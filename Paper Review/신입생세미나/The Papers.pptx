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>
        <p:scale>
          <a:sx n="75" d="100"/>
          <a:sy n="75" d="100"/>
        </p:scale>
        <p:origin x="1044" y="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33B888-AEFE-743C-A694-F7646D745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03E1DF-7E71-3BCE-A81E-E2C2FFBD3F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7EB588-00E0-B9AB-4D40-A406B1CB6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9DFE9B-1D4F-FB6D-711A-EBF0C08BA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805E57-C6E6-65BF-6CEE-24B6F6F92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534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493A4E-4DFB-D3D0-5B88-E6121A14B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506CAE-623A-548D-967A-7CC9CE381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88E246-CCE9-4ACF-F9DD-D4325ED6C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E63DF8-9A25-458B-81ED-4E56977C5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F8E4E9-40DF-1645-1570-716386E19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2856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ACAF9-C7E2-80E7-97F7-383B14409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782454-9458-58ED-64F5-0C4EABF4B1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9C3357-0E2A-98E9-4325-C79E00291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7A8EDA-C584-BD87-630C-BA02054E5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3B3901-DA52-6A31-C4F3-CFCDEDF93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20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4B15AB-BFEC-D105-49AE-0AF392028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BAE660-0003-5921-6161-6A6835ED4E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5570FC-6BDE-CC96-D29C-200BDC52EF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0F4BFA-A000-5B8C-7F8E-9A50F6439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B51DB6-38FE-31AE-4E7D-43974D680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E6E350-F509-D3B5-0731-BC881FC7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2118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9EF33D-52B1-57A2-F052-9AA0B99C9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72E0A70-DB96-E099-851D-F86B3BAC4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6207476-C84A-C9FA-8157-9DBEDF4C1F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3BE7865-9FDB-5722-CFB7-F30020683E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11F51CD-C705-6B40-9F25-35B733811B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6FE4CE-1E95-42F5-9A40-03B0BE819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18A8418-3361-0607-3EB6-2DEA876A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0CEFF61-D0E6-2786-E30D-A80C38A1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1872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B6C6BE-E700-90F1-FE3C-1D999CC6D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307F3DF-B5F0-0CD9-3C81-3ACF08278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ACC6853-F549-E8DF-59B5-19EA5F7E9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9E0745-3842-C21B-FEA6-02C02A7F1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948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B8ECA1-A498-BDE0-CD24-F42F8DF45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F65EF90-D775-0A3A-CB74-42A32D0CC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EF1E27-1D3C-8ED0-E73F-405953687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84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1567FA-C099-6F4B-E3CF-A238F04C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C6B94D-9743-4C1A-FA84-4BC6207FF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8FC7D3-E76B-6572-046D-BF56D01DF8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E58E9F5-D723-36A5-EBB8-C5BD68DA4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5715A61-0CAF-85B4-6B50-32354E1DB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6DDDDC-E8FE-54D9-0471-4C110EFB0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1405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201B40-C15D-7109-7A41-1888E704C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216A64B-1B07-D9FB-8228-3621EEBC93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E14C41-79AC-43AB-67B7-C1A462183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50FEB1-A3D6-1448-9F6A-FAD053DD5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EE2FE47-A1C1-A432-2D6B-AFBC374E9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4EF62B2-52D4-873F-0F3F-033B0AE85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610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B09093-B7FB-41BD-12A3-5CF5CCC92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4380E0E-D4BC-FEF6-CB8E-3C36FB4DD5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1EFEE4-9833-2FAB-6596-BD601403D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6FC8DB-FCEB-BD68-9656-516F1EFC6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F8B883-3D91-94E2-DACE-550F0FCC0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3712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712619E-6ADF-113C-8489-103407BD3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0E68C9-D1A6-38A9-022C-6C780F9034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E19FDC-081A-C362-FCF3-8BFC3E0B8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62ABE5-A484-AECC-B409-C5F67FAE3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EC0E87-F4DC-933A-B2F9-ABDA450B5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6487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9722D45-BAAA-A1AD-F330-B89EBAB75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55" y="209400"/>
            <a:ext cx="11220090" cy="4716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864B18-7178-B449-1ECC-7430A39A2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5955" y="806254"/>
            <a:ext cx="11220090" cy="537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53D178-039A-F152-B230-EA39788673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CAF52F-6882-49BC-AF54-CEAF0D6B78A5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0E9DBEB-6211-5072-966C-3A66269437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BFCAE4-77DA-3FE8-9291-152AF1146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B28614-BEA1-4E4C-A3D4-C1F6125A1985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362A925-6AAA-043D-FF43-0F5058EDBE76}"/>
              </a:ext>
            </a:extLst>
          </p:cNvPr>
          <p:cNvCxnSpPr/>
          <p:nvPr/>
        </p:nvCxnSpPr>
        <p:spPr>
          <a:xfrm>
            <a:off x="0" y="743645"/>
            <a:ext cx="12192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4532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research.google/blog/transformers-for-image-recognition-at-scale/" TargetMode="External"/><Relationship Id="rId2" Type="http://schemas.openxmlformats.org/officeDocument/2006/relationships/hyperlink" Target="https://www.superannotate.com/blog/guide-to-convolutional-neural-network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91Qipj5NMnk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hyperlink" Target="https://www.youtube.com/watch?v=Fypk0ec32BU&amp;t=429s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316B94-7BA3-4101-AF7E-27315DA768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The Papers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F52CE5-C782-4B16-A8E0-D95CFB2EC3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AN IMAGE IS WORTH 16X16 WORDS: TRANSFORMERS FOR IMAGE RECOGNITION AT SCALE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8824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58CA598-D214-4B05-BEC1-03C391EE4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9C1624DD-4414-4A8E-8890-9918112DF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Dosovitskiy</a:t>
            </a:r>
            <a:r>
              <a:rPr lang="en-US" altLang="ko-KR" dirty="0"/>
              <a:t>, Alexey, et al. "An Image is Worth 16x16 Words: Transformers for Image Recognition at Scale." </a:t>
            </a:r>
            <a:r>
              <a:rPr lang="en-US" altLang="ko-KR" i="1" dirty="0"/>
              <a:t>International Conference on Learning Representations</a:t>
            </a:r>
            <a:r>
              <a:rPr lang="en-US" altLang="ko-KR" dirty="0"/>
              <a:t>. 2020.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F21336F-4CCD-44EF-8DF2-DBA85156B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11" y="2081711"/>
            <a:ext cx="6039693" cy="28197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364A6CC-01A3-4562-B50E-63123D606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6053" y="1925523"/>
            <a:ext cx="2782769" cy="368242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bliqueTopRight"/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3411645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619E32-8E6F-49A5-96FB-C8DFCB0C2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4B7585-888D-4748-8A5C-486F20D9A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이미지 분류 문제에서</a:t>
            </a:r>
            <a:r>
              <a:rPr lang="en-US" altLang="ko-KR" dirty="0"/>
              <a:t>, </a:t>
            </a:r>
            <a:r>
              <a:rPr lang="ko-KR" altLang="en-US" dirty="0"/>
              <a:t>이미지를</a:t>
            </a:r>
            <a:r>
              <a:rPr lang="en-US" altLang="ko-KR" dirty="0"/>
              <a:t> </a:t>
            </a:r>
            <a:r>
              <a:rPr lang="ko-KR" altLang="en-US" dirty="0"/>
              <a:t>작은 패치 </a:t>
            </a:r>
            <a:r>
              <a:rPr lang="en-US" altLang="ko-KR" dirty="0"/>
              <a:t>(16 X 16) </a:t>
            </a:r>
            <a:r>
              <a:rPr lang="ko-KR" altLang="en-US" dirty="0"/>
              <a:t>로 나누어</a:t>
            </a:r>
            <a:r>
              <a:rPr lang="en-US" altLang="ko-KR" dirty="0"/>
              <a:t>, Token</a:t>
            </a:r>
            <a:r>
              <a:rPr lang="ko-KR" altLang="en-US" dirty="0"/>
              <a:t> 처럼 처리하여 </a:t>
            </a:r>
            <a:r>
              <a:rPr lang="en-US" altLang="ko-KR" dirty="0"/>
              <a:t>Transformer</a:t>
            </a:r>
            <a:r>
              <a:rPr lang="ko-KR" altLang="en-US" dirty="0"/>
              <a:t>에 입력</a:t>
            </a:r>
            <a:endParaRPr lang="en-US" altLang="ko-KR" dirty="0"/>
          </a:p>
          <a:p>
            <a:r>
              <a:rPr lang="en-US" altLang="ko-KR" dirty="0"/>
              <a:t>CNN</a:t>
            </a:r>
            <a:r>
              <a:rPr lang="ko-KR" altLang="en-US" dirty="0"/>
              <a:t> 없이도 좋은 성능을 달성</a:t>
            </a:r>
            <a:r>
              <a:rPr lang="en-US" altLang="ko-KR" dirty="0"/>
              <a:t>(</a:t>
            </a:r>
            <a:r>
              <a:rPr lang="ko-KR" altLang="en-US" dirty="0"/>
              <a:t>단 대규모 데이터셋에 한정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전이학습 </a:t>
            </a:r>
            <a:r>
              <a:rPr lang="en-US" altLang="ko-KR" dirty="0"/>
              <a:t>(Transfer Learning)</a:t>
            </a:r>
            <a:r>
              <a:rPr lang="ko-KR" altLang="en-US" dirty="0"/>
              <a:t>에도 강점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이후 </a:t>
            </a:r>
            <a:r>
              <a:rPr lang="en-US" altLang="ko-KR" dirty="0" err="1"/>
              <a:t>Swin</a:t>
            </a:r>
            <a:r>
              <a:rPr lang="en-US" altLang="ko-KR" dirty="0"/>
              <a:t> Transformer, Distilled </a:t>
            </a:r>
            <a:r>
              <a:rPr lang="en-US" altLang="ko-KR" dirty="0" err="1"/>
              <a:t>ViT</a:t>
            </a:r>
            <a:r>
              <a:rPr lang="en-US" altLang="ko-KR" dirty="0"/>
              <a:t>, Masked Auto encoder</a:t>
            </a:r>
            <a:r>
              <a:rPr lang="ko-KR" altLang="en-US" dirty="0"/>
              <a:t>로 발전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참고자료</a:t>
            </a:r>
            <a:endParaRPr lang="en-US" altLang="ko-KR" dirty="0"/>
          </a:p>
          <a:p>
            <a:pPr lvl="1"/>
            <a:r>
              <a:rPr lang="en-US" altLang="ko-KR" dirty="0">
                <a:hlinkClick r:id="rId2"/>
              </a:rPr>
              <a:t>https://www.superannotate.com/blog/guide-to-convolutional-neural-networks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https://research.google/blog/transformers-for-image-recognition-at-scale/</a:t>
            </a:r>
            <a:endParaRPr lang="en-US" altLang="ko-KR" dirty="0"/>
          </a:p>
          <a:p>
            <a:pPr lvl="1"/>
            <a:r>
              <a:rPr lang="en-US" altLang="ko-KR" dirty="0">
                <a:hlinkClick r:id="rId4"/>
              </a:rPr>
              <a:t>https://www.youtube.com/watch?v=91Qipj5NMnk</a:t>
            </a:r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755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EBDCB0-FB20-4108-B478-F9CF148D5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29F7421-794A-4580-948F-352957149C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955" y="806254"/>
            <a:ext cx="11220090" cy="774734"/>
          </a:xfrm>
        </p:spPr>
        <p:txBody>
          <a:bodyPr>
            <a:noAutofit/>
          </a:bodyPr>
          <a:lstStyle/>
          <a:p>
            <a:r>
              <a:rPr lang="ko-KR" altLang="en-US" dirty="0"/>
              <a:t>이미지 분류 문제를 해결하기 위해 </a:t>
            </a:r>
            <a:r>
              <a:rPr lang="en-US" altLang="ko-KR" dirty="0"/>
              <a:t>MLP</a:t>
            </a:r>
            <a:r>
              <a:rPr lang="ko-KR" altLang="en-US" dirty="0"/>
              <a:t>를 사용  </a:t>
            </a:r>
            <a:r>
              <a:rPr lang="en-US" altLang="ko-KR" dirty="0"/>
              <a:t>[</a:t>
            </a:r>
            <a:r>
              <a:rPr lang="en-US" altLang="ko-KR" dirty="0" err="1"/>
              <a:t>LeNET</a:t>
            </a:r>
            <a:r>
              <a:rPr lang="en-US" altLang="ko-KR" dirty="0"/>
              <a:t>] / </a:t>
            </a:r>
            <a:r>
              <a:rPr lang="en-US" altLang="ko-KR" dirty="0" err="1"/>
              <a:t>LeCun</a:t>
            </a:r>
            <a:r>
              <a:rPr lang="en-US" altLang="ko-KR" dirty="0"/>
              <a:t>, Yann, et al. "Gradient-based learning applied to document recognition." </a:t>
            </a:r>
            <a:r>
              <a:rPr lang="en-US" altLang="ko-KR" i="1" dirty="0"/>
              <a:t>Proceedings of the IEEE</a:t>
            </a:r>
            <a:r>
              <a:rPr lang="en-US" altLang="ko-KR" dirty="0"/>
              <a:t> 86.11 (1998): 2278-2324.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AE41CA6-3C2D-4842-B103-F159A249F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628" y="1913537"/>
            <a:ext cx="7095946" cy="19323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D1E6FC-096D-4122-88BC-57B51768B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99" y="4162587"/>
            <a:ext cx="5943600" cy="2228850"/>
          </a:xfrm>
          <a:prstGeom prst="rect">
            <a:avLst/>
          </a:prstGeom>
        </p:spPr>
      </p:pic>
      <p:pic>
        <p:nvPicPr>
          <p:cNvPr id="2054" name="Picture 6" descr="The 5 Variants of Multi-Layer Perceptron for Collaborative Filtering —  James Le">
            <a:extLst>
              <a:ext uri="{FF2B5EF4-FFF2-40B4-BE49-F238E27FC236}">
                <a16:creationId xmlns:a16="http://schemas.microsoft.com/office/drawing/2014/main" id="{F09B5E75-4A3E-4A16-9EB2-9CEA5FEC9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4855" y="4162587"/>
            <a:ext cx="3721100" cy="2451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ABA7AC1-EEC0-4AFC-8AA6-3726ACB67C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9574" y="1570482"/>
            <a:ext cx="4545069" cy="1932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528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E3DE9-FBB5-423E-BE61-0C70AAAB6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AlexaNet</a:t>
            </a:r>
            <a:r>
              <a:rPr lang="en-US" altLang="ko-KR" dirty="0"/>
              <a:t> (2012)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DADDAF0-E083-4AAF-9D16-B1889E1B4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55" y="3135188"/>
            <a:ext cx="5125165" cy="1781424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E0FB932-C6FC-4779-98A4-1EA37CB18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955" y="806255"/>
            <a:ext cx="11220090" cy="336746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ko-KR" altLang="en-US" dirty="0" err="1"/>
              <a:t>딥러닝</a:t>
            </a:r>
            <a:r>
              <a:rPr lang="ko-KR" altLang="en-US" dirty="0"/>
              <a:t> 혁명의 시작 </a:t>
            </a:r>
            <a:r>
              <a:rPr lang="en-US" altLang="ko-KR" dirty="0"/>
              <a:t>(2012</a:t>
            </a:r>
            <a:r>
              <a:rPr lang="ko-KR" altLang="en-US" dirty="0"/>
              <a:t>년 </a:t>
            </a:r>
            <a:r>
              <a:rPr lang="en-US" altLang="ko-KR" dirty="0"/>
              <a:t>ImageNet Large Scale Visual Recognition Challenge (ILSVRC) </a:t>
            </a:r>
            <a:r>
              <a:rPr lang="ko-KR" altLang="en-US" dirty="0"/>
              <a:t>우승</a:t>
            </a:r>
            <a:r>
              <a:rPr lang="en-US" altLang="ko-KR" dirty="0"/>
              <a:t>, </a:t>
            </a:r>
            <a:r>
              <a:rPr lang="ko-KR" altLang="en-US" dirty="0"/>
              <a:t>오차율 </a:t>
            </a:r>
            <a:r>
              <a:rPr lang="en-US" altLang="ko-KR" dirty="0"/>
              <a:t>15.3%)</a:t>
            </a:r>
          </a:p>
          <a:p>
            <a:r>
              <a:rPr lang="en-US" altLang="ko-KR" dirty="0"/>
              <a:t>5</a:t>
            </a:r>
            <a:r>
              <a:rPr lang="ko-KR" altLang="en-US" dirty="0"/>
              <a:t>개의 </a:t>
            </a:r>
            <a:r>
              <a:rPr lang="en-US" altLang="ko-KR" dirty="0"/>
              <a:t>Conv Net, 3</a:t>
            </a:r>
            <a:r>
              <a:rPr lang="ko-KR" altLang="en-US" dirty="0"/>
              <a:t>개의 </a:t>
            </a:r>
            <a:r>
              <a:rPr lang="en-US" altLang="ko-KR" dirty="0"/>
              <a:t>FCN</a:t>
            </a:r>
            <a:r>
              <a:rPr lang="en-US" altLang="ko-KR" dirty="0">
                <a:sym typeface="Wingdings" panose="05000000000000000000" pitchFamily="2" charset="2"/>
              </a:rPr>
              <a:t> 60M parameter</a:t>
            </a:r>
            <a:endParaRPr lang="en-US" altLang="ko-KR" dirty="0"/>
          </a:p>
          <a:p>
            <a:r>
              <a:rPr lang="en-US" altLang="ko-KR" dirty="0" err="1"/>
              <a:t>ReLU</a:t>
            </a:r>
            <a:r>
              <a:rPr lang="en-US" altLang="ko-KR" dirty="0"/>
              <a:t> </a:t>
            </a:r>
            <a:r>
              <a:rPr lang="ko-KR" altLang="en-US" dirty="0"/>
              <a:t>의 사용 </a:t>
            </a:r>
            <a:r>
              <a:rPr lang="en-US" altLang="ko-KR" dirty="0"/>
              <a:t>/ Dropout</a:t>
            </a:r>
            <a:r>
              <a:rPr lang="ko-KR" altLang="en-US" dirty="0"/>
              <a:t>을 이용한 과적합방지</a:t>
            </a:r>
            <a:endParaRPr lang="en-US" altLang="ko-KR" dirty="0"/>
          </a:p>
          <a:p>
            <a:r>
              <a:rPr lang="en-US" altLang="ko-KR" dirty="0"/>
              <a:t>Data </a:t>
            </a:r>
            <a:r>
              <a:rPr lang="en-US" altLang="ko-KR" dirty="0" err="1"/>
              <a:t>Augtmentation</a:t>
            </a:r>
            <a:endParaRPr lang="en-US" altLang="ko-KR" dirty="0"/>
          </a:p>
          <a:p>
            <a:r>
              <a:rPr lang="en-US" altLang="ko-KR" dirty="0"/>
              <a:t>GPU</a:t>
            </a:r>
            <a:r>
              <a:rPr lang="ko-KR" altLang="en-US" dirty="0"/>
              <a:t>병렬처리</a:t>
            </a:r>
            <a:r>
              <a:rPr lang="en-US" altLang="ko-KR" dirty="0"/>
              <a:t> </a:t>
            </a:r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08334A-F323-4A78-85F1-C56EBFEED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804" y="3135188"/>
            <a:ext cx="5762479" cy="2164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431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3483C9-8C47-4066-9AE6-DF292F482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ResNET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3D6556-A507-4FC5-AC6C-6CF00515F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Autofit/>
          </a:bodyPr>
          <a:lstStyle/>
          <a:p>
            <a:r>
              <a:rPr lang="en-US" altLang="ko-KR" dirty="0"/>
              <a:t>Layer</a:t>
            </a:r>
            <a:r>
              <a:rPr lang="ko-KR" altLang="en-US" dirty="0"/>
              <a:t>의 숫자가 많아질수록 성능이 떨어지는 문제 발생 </a:t>
            </a:r>
            <a:r>
              <a:rPr lang="en-US" altLang="ko-KR" dirty="0"/>
              <a:t>(Gradient Vanishing) </a:t>
            </a:r>
          </a:p>
          <a:p>
            <a:r>
              <a:rPr lang="ko-KR" altLang="en-US" dirty="0"/>
              <a:t>이를</a:t>
            </a:r>
            <a:r>
              <a:rPr lang="en-US" altLang="ko-KR" dirty="0"/>
              <a:t> </a:t>
            </a:r>
            <a:r>
              <a:rPr lang="ko-KR" altLang="en-US" dirty="0"/>
              <a:t>해결하기 위해 </a:t>
            </a:r>
            <a:r>
              <a:rPr lang="en-US" altLang="ko-KR" dirty="0"/>
              <a:t>Residual Learning </a:t>
            </a:r>
            <a:r>
              <a:rPr lang="ko-KR" altLang="en-US" dirty="0"/>
              <a:t>을 도입</a:t>
            </a:r>
            <a:r>
              <a:rPr lang="en-US" altLang="ko-KR" dirty="0"/>
              <a:t>, 2015 </a:t>
            </a:r>
            <a:r>
              <a:rPr lang="en-US" altLang="ko-KR" dirty="0" err="1"/>
              <a:t>ImagNet</a:t>
            </a:r>
            <a:r>
              <a:rPr lang="en-US" altLang="ko-KR" dirty="0"/>
              <a:t> </a:t>
            </a:r>
            <a:r>
              <a:rPr lang="ko-KR" altLang="en-US" dirty="0" err="1"/>
              <a:t>챌린지</a:t>
            </a:r>
            <a:r>
              <a:rPr lang="ko-KR" altLang="en-US" dirty="0"/>
              <a:t> 우승 </a:t>
            </a:r>
            <a:r>
              <a:rPr lang="en-US" altLang="ko-KR" dirty="0"/>
              <a:t>(3.57%)</a:t>
            </a:r>
          </a:p>
          <a:p>
            <a:r>
              <a:rPr lang="en-US" altLang="ko-KR" dirty="0" err="1"/>
              <a:t>Kaiming</a:t>
            </a:r>
            <a:r>
              <a:rPr lang="en-US" altLang="ko-KR" dirty="0"/>
              <a:t> He, </a:t>
            </a:r>
            <a:r>
              <a:rPr lang="en-US" altLang="ko-KR" dirty="0" err="1"/>
              <a:t>Xiangyu</a:t>
            </a:r>
            <a:r>
              <a:rPr lang="en-US" altLang="ko-KR" dirty="0"/>
              <a:t> Zhang, </a:t>
            </a:r>
            <a:r>
              <a:rPr lang="en-US" altLang="ko-KR" dirty="0" err="1"/>
              <a:t>Shaoqing</a:t>
            </a:r>
            <a:r>
              <a:rPr lang="en-US" altLang="ko-KR" dirty="0"/>
              <a:t> Ren, and Jian Sun. Deep residual learning for image </a:t>
            </a:r>
            <a:r>
              <a:rPr lang="en-US" altLang="ko-KR" dirty="0" err="1"/>
              <a:t>recog</a:t>
            </a:r>
            <a:r>
              <a:rPr lang="en-US" altLang="ko-KR" dirty="0"/>
              <a:t>- </a:t>
            </a:r>
            <a:r>
              <a:rPr lang="en-US" altLang="ko-KR" dirty="0" err="1"/>
              <a:t>nition</a:t>
            </a:r>
            <a:r>
              <a:rPr lang="en-US" altLang="ko-KR" dirty="0"/>
              <a:t>. In CVPR, 2016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5ADC28-6061-440F-810A-7F90E18ED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672" y="2474389"/>
            <a:ext cx="3649852" cy="20510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6D282F6-D266-4982-9D12-8FD6B06D1E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25"/>
          <a:stretch/>
        </p:blipFill>
        <p:spPr>
          <a:xfrm>
            <a:off x="66712" y="2569439"/>
            <a:ext cx="2571368" cy="180068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157F2EC-BF43-4C97-B35E-F357F0A6904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225"/>
          <a:stretch/>
        </p:blipFill>
        <p:spPr>
          <a:xfrm>
            <a:off x="184533" y="4457841"/>
            <a:ext cx="2571368" cy="180068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889674-22B5-4771-829F-6FD8E3ADA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671" y="3974502"/>
            <a:ext cx="3649852" cy="245868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BF8E55D-BBC9-4500-927E-30005C9405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7512" y="1955905"/>
            <a:ext cx="5229955" cy="176237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53F2D3B-2E25-4C58-A2C2-244E367EC9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5672" y="4651719"/>
            <a:ext cx="4067988" cy="180429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A6456B-2902-4CC3-8DE0-DC72320E5AAB}"/>
              </a:ext>
            </a:extLst>
          </p:cNvPr>
          <p:cNvSpPr/>
          <p:nvPr/>
        </p:nvSpPr>
        <p:spPr>
          <a:xfrm>
            <a:off x="3238500" y="6499015"/>
            <a:ext cx="7569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7"/>
              </a:rPr>
              <a:t>https://www.youtube.com/watch?v=Fypk0ec32BU&amp;t=429s</a:t>
            </a:r>
            <a:endParaRPr lang="en-US" altLang="ko-KR" sz="1200" dirty="0"/>
          </a:p>
          <a:p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861302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AF2CDF-8BE9-4E9E-895D-93FDA355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Encoder-Decoder 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E5566F-272A-4DCF-B013-DD3B463E84A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976" r="7524"/>
          <a:stretch/>
        </p:blipFill>
        <p:spPr>
          <a:xfrm>
            <a:off x="161462" y="2546500"/>
            <a:ext cx="6311901" cy="4102100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C1F3F745-BC0F-4F7B-8910-2586ADF223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955" y="806255"/>
            <a:ext cx="11220090" cy="768546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US" altLang="ko-KR" dirty="0"/>
              <a:t>U-NET</a:t>
            </a:r>
            <a:r>
              <a:rPr lang="ko-KR" altLang="en-US" dirty="0"/>
              <a:t>에서 </a:t>
            </a:r>
            <a:r>
              <a:rPr lang="en-US" altLang="ko-KR" dirty="0"/>
              <a:t>Encoder-Decoder</a:t>
            </a:r>
            <a:r>
              <a:rPr lang="ko-KR" altLang="en-US" dirty="0"/>
              <a:t>구조를 제안</a:t>
            </a:r>
            <a:endParaRPr lang="en-US" altLang="ko-KR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C50C7B5-154E-4F39-BA49-5A2B7FE3C6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8152233"/>
              </p:ext>
            </p:extLst>
          </p:nvPr>
        </p:nvGraphicFramePr>
        <p:xfrm>
          <a:off x="7483938" y="1190528"/>
          <a:ext cx="4546600" cy="20606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46600">
                  <a:extLst>
                    <a:ext uri="{9D8B030D-6E8A-4147-A177-3AD203B41FA5}">
                      <a16:colId xmlns:a16="http://schemas.microsoft.com/office/drawing/2014/main" val="1694300699"/>
                    </a:ext>
                  </a:extLst>
                </a:gridCol>
              </a:tblGrid>
              <a:tr h="1030336">
                <a:tc>
                  <a:txBody>
                    <a:bodyPr/>
                    <a:lstStyle/>
                    <a:p>
                      <a:pPr marL="177800" indent="-177800" latinLnBrk="1">
                        <a:buFontTx/>
                        <a:buChar char="-"/>
                      </a:pPr>
                      <a:r>
                        <a:rPr lang="ko-KR" altLang="en-US" sz="1200" dirty="0"/>
                        <a:t>정보의 압축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추상화</a:t>
                      </a:r>
                      <a:endParaRPr lang="en-US" altLang="ko-KR" sz="1200" dirty="0"/>
                    </a:p>
                    <a:p>
                      <a:pPr marL="177800" indent="-177800" latinLnBrk="1">
                        <a:buFontTx/>
                        <a:buChar char="-"/>
                      </a:pPr>
                      <a:r>
                        <a:rPr lang="ko-KR" altLang="en-US" sz="1200" dirty="0"/>
                        <a:t>입출력의 크기가 달라도 처리가능</a:t>
                      </a:r>
                      <a:endParaRPr lang="en-US" altLang="ko-KR" sz="1200" dirty="0"/>
                    </a:p>
                    <a:p>
                      <a:pPr marL="177800" indent="-177800" latinLnBrk="1">
                        <a:buFontTx/>
                        <a:buChar char="-"/>
                      </a:pPr>
                      <a:r>
                        <a:rPr lang="en-US" altLang="ko-KR" sz="1200" dirty="0"/>
                        <a:t>Global Context</a:t>
                      </a:r>
                      <a:r>
                        <a:rPr lang="ko-KR" altLang="en-US" sz="1200" dirty="0"/>
                        <a:t>의 활용</a:t>
                      </a:r>
                      <a:endParaRPr lang="en-US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4792640"/>
                  </a:ext>
                </a:extLst>
              </a:tr>
              <a:tr h="1030336"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정보 손실의 가능성 </a:t>
                      </a:r>
                      <a:r>
                        <a:rPr lang="en-US" altLang="ko-KR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Skip Connection</a:t>
                      </a:r>
                      <a:endParaRPr lang="en-US" altLang="ko-KR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입력정보가 길 경우 </a:t>
                      </a:r>
                      <a:r>
                        <a:rPr lang="en-US" altLang="ko-KR" sz="1200" dirty="0"/>
                        <a:t>Long term memory </a:t>
                      </a:r>
                      <a:r>
                        <a:rPr lang="ko-KR" altLang="en-US" sz="1200" dirty="0"/>
                        <a:t>문제 </a:t>
                      </a:r>
                      <a:r>
                        <a:rPr lang="en-US" altLang="ko-KR" sz="1200" dirty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1200" dirty="0"/>
                        <a:t>Attention!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고해상도 </a:t>
                      </a:r>
                      <a:r>
                        <a:rPr lang="ko-KR" altLang="en-US" sz="1200" dirty="0" err="1"/>
                        <a:t>입력시</a:t>
                      </a:r>
                      <a:r>
                        <a:rPr lang="ko-KR" altLang="en-US" sz="1200" dirty="0"/>
                        <a:t> </a:t>
                      </a:r>
                      <a:r>
                        <a:rPr lang="ko-KR" altLang="en-US" sz="1200" dirty="0" err="1"/>
                        <a:t>연산량의</a:t>
                      </a:r>
                      <a:r>
                        <a:rPr lang="ko-KR" altLang="en-US" sz="1200" dirty="0"/>
                        <a:t> 증가 </a:t>
                      </a:r>
                      <a:r>
                        <a:rPr lang="en-US" altLang="ko-KR" sz="1200" dirty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ym typeface="Wingdings" panose="05000000000000000000" pitchFamily="2" charset="2"/>
                        </a:rPr>
                        <a:t>피라미드구조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학습의 난이도 상승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10413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92D9C347-5B91-4230-95FF-C9CD86FC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712" y="3467461"/>
            <a:ext cx="5599826" cy="318113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17941F7-6390-46B0-A4BC-B252B5A28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171" y="1460367"/>
            <a:ext cx="5782482" cy="95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54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E6342-0BD6-4125-841F-2CE337B39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Transformer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C468A7-3D39-4404-8FFF-40B778708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02" y="1920725"/>
            <a:ext cx="5696745" cy="10764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680A59B-429E-4964-B70C-707E63D83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682" y="1073731"/>
            <a:ext cx="3754317" cy="578426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171AB04-D99F-47E4-B5BF-A0D3134E6D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2337" y="3343124"/>
            <a:ext cx="2453663" cy="3211064"/>
          </a:xfrm>
          <a:prstGeom prst="rect">
            <a:avLst/>
          </a:prstGeom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C9DCF312-2ABB-4C0A-BBF1-676C37754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955" y="806255"/>
            <a:ext cx="11220090" cy="768546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US" altLang="ko-KR" dirty="0"/>
              <a:t>RNN,</a:t>
            </a:r>
            <a:r>
              <a:rPr lang="ko-KR" altLang="en-US" dirty="0"/>
              <a:t>  </a:t>
            </a:r>
            <a:r>
              <a:rPr lang="en-US" altLang="ko-KR" dirty="0"/>
              <a:t>LSTM,</a:t>
            </a:r>
            <a:r>
              <a:rPr lang="ko-KR" altLang="en-US" dirty="0"/>
              <a:t> </a:t>
            </a:r>
            <a:r>
              <a:rPr lang="en-US" altLang="ko-KR" dirty="0"/>
              <a:t>GRU</a:t>
            </a:r>
            <a:r>
              <a:rPr lang="ko-KR" altLang="en-US" dirty="0"/>
              <a:t> 기반의 </a:t>
            </a:r>
            <a:r>
              <a:rPr lang="ko-KR" altLang="en-US" dirty="0" err="1"/>
              <a:t>시퀸스처리가</a:t>
            </a:r>
            <a:r>
              <a:rPr lang="ko-KR" altLang="en-US" dirty="0"/>
              <a:t> 가지는 문제 </a:t>
            </a:r>
            <a:r>
              <a:rPr lang="en-US" altLang="ko-KR" dirty="0"/>
              <a:t>(</a:t>
            </a:r>
            <a:r>
              <a:rPr lang="ko-KR" altLang="en-US" dirty="0"/>
              <a:t>병렬연산의 어려움</a:t>
            </a:r>
            <a:r>
              <a:rPr lang="en-US" altLang="ko-KR" dirty="0"/>
              <a:t>, </a:t>
            </a:r>
            <a:r>
              <a:rPr lang="ko-KR" altLang="en-US" dirty="0"/>
              <a:t>길이가 길면 </a:t>
            </a:r>
            <a:r>
              <a:rPr lang="ko-KR" altLang="en-US" dirty="0" err="1"/>
              <a:t>어려워짐</a:t>
            </a:r>
            <a:r>
              <a:rPr lang="en-US" altLang="ko-KR" dirty="0"/>
              <a:t>)</a:t>
            </a:r>
            <a:r>
              <a:rPr lang="ko-KR" altLang="en-US" dirty="0"/>
              <a:t>의 해결을 위해 </a:t>
            </a:r>
            <a:br>
              <a:rPr lang="en-US" altLang="ko-KR" dirty="0"/>
            </a:br>
            <a:r>
              <a:rPr lang="en-US" altLang="ko-KR" dirty="0"/>
              <a:t>Attention </a:t>
            </a:r>
            <a:r>
              <a:rPr lang="ko-KR" altLang="en-US" dirty="0"/>
              <a:t>메커니즘을 이용하여 입출력을 처리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23726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7B6BF0-8D4E-413D-A064-BAE2BFF9B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Vision Transformer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F537F14-26D5-449F-8AAF-E24653828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00" y="1283746"/>
            <a:ext cx="10502899" cy="5428593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ECF73FFB-BCC8-4807-BBCA-CD813F9B4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955" y="806255"/>
            <a:ext cx="11220090" cy="768546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US" altLang="ko-KR" dirty="0"/>
              <a:t>RNN,</a:t>
            </a:r>
            <a:r>
              <a:rPr lang="ko-KR" altLang="en-US" dirty="0"/>
              <a:t>  </a:t>
            </a:r>
            <a:r>
              <a:rPr lang="en-US" altLang="ko-KR" dirty="0"/>
              <a:t>LSTM,</a:t>
            </a:r>
            <a:r>
              <a:rPr lang="ko-KR" altLang="en-US" dirty="0"/>
              <a:t> </a:t>
            </a:r>
            <a:r>
              <a:rPr lang="en-US" altLang="ko-KR" dirty="0"/>
              <a:t>GRU</a:t>
            </a:r>
            <a:r>
              <a:rPr lang="ko-KR" altLang="en-US" dirty="0"/>
              <a:t> 기반의 </a:t>
            </a:r>
            <a:r>
              <a:rPr lang="ko-KR" altLang="en-US" dirty="0" err="1"/>
              <a:t>시퀸스처리가</a:t>
            </a:r>
            <a:r>
              <a:rPr lang="ko-KR" altLang="en-US" dirty="0"/>
              <a:t> 가지는 문제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병렬연산의 어려움</a:t>
            </a:r>
            <a:r>
              <a:rPr lang="en-US" altLang="ko-KR" dirty="0"/>
              <a:t>, </a:t>
            </a:r>
            <a:r>
              <a:rPr lang="ko-KR" altLang="en-US" dirty="0"/>
              <a:t>길이가 길면 </a:t>
            </a:r>
            <a:r>
              <a:rPr lang="ko-KR" altLang="en-US" dirty="0" err="1"/>
              <a:t>어려워짐</a:t>
            </a:r>
            <a:r>
              <a:rPr lang="en-US" altLang="ko-KR" dirty="0"/>
              <a:t>)</a:t>
            </a:r>
            <a:r>
              <a:rPr lang="ko-KR" altLang="en-US" dirty="0"/>
              <a:t>의 해결을 위해 </a:t>
            </a:r>
            <a:br>
              <a:rPr lang="en-US" altLang="ko-KR" dirty="0"/>
            </a:br>
            <a:r>
              <a:rPr lang="en-US" altLang="ko-KR" dirty="0"/>
              <a:t>Attention </a:t>
            </a:r>
            <a:r>
              <a:rPr lang="ko-KR" altLang="en-US" dirty="0"/>
              <a:t>메커니즘을 이용하여 입출력을 처리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24704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881785-BF78-405F-9B8C-8EB0C3EB2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ViT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3805F4F-36B2-41EB-9FA0-70A670F7CB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5563" y="1081086"/>
            <a:ext cx="7959437" cy="5472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22626"/>
      </p:ext>
    </p:extLst>
  </p:cSld>
  <p:clrMapOvr>
    <a:masterClrMapping/>
  </p:clrMapOvr>
</p:sld>
</file>

<file path=ppt/theme/theme1.xml><?xml version="1.0" encoding="utf-8"?>
<a:theme xmlns:a="http://schemas.openxmlformats.org/drawingml/2006/main" name="A Method for Registration of 3-D Shape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Neuralangelo</Template>
  <TotalTime>533</TotalTime>
  <Words>391</Words>
  <Application>Microsoft Office PowerPoint</Application>
  <PresentationFormat>와이드스크린</PresentationFormat>
  <Paragraphs>44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Wingdings</vt:lpstr>
      <vt:lpstr>A Method for Registration of 3-D Shapes</vt:lpstr>
      <vt:lpstr>The Papers</vt:lpstr>
      <vt:lpstr>Introduction</vt:lpstr>
      <vt:lpstr>Summary</vt:lpstr>
      <vt:lpstr>CNN</vt:lpstr>
      <vt:lpstr>AlexaNet (2012)</vt:lpstr>
      <vt:lpstr>ResNET</vt:lpstr>
      <vt:lpstr>Encoder-Decoder </vt:lpstr>
      <vt:lpstr>Transformer</vt:lpstr>
      <vt:lpstr>Vision Transformer</vt:lpstr>
      <vt:lpstr>ViT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Paper</dc:title>
  <dc:creator>송영국</dc:creator>
  <cp:lastModifiedBy>송영국</cp:lastModifiedBy>
  <cp:revision>17</cp:revision>
  <dcterms:created xsi:type="dcterms:W3CDTF">2025-03-19T13:26:03Z</dcterms:created>
  <dcterms:modified xsi:type="dcterms:W3CDTF">2025-03-19T22:19:47Z</dcterms:modified>
</cp:coreProperties>
</file>