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3" r:id="rId9"/>
    <p:sldId id="264" r:id="rId10"/>
    <p:sldId id="265" r:id="rId11"/>
    <p:sldId id="266" r:id="rId12"/>
    <p:sldId id="272" r:id="rId13"/>
    <p:sldId id="267" r:id="rId14"/>
    <p:sldId id="269" r:id="rId15"/>
    <p:sldId id="274" r:id="rId16"/>
    <p:sldId id="270" r:id="rId17"/>
    <p:sldId id="273" r:id="rId18"/>
    <p:sldId id="271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33B888-AEFE-743C-A694-F7646D745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03E1DF-7E71-3BCE-A81E-E2C2FFBD3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EB588-00E0-B9AB-4D40-A406B1CB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AF52F-6882-49BC-AF54-CEAF0D6B78A5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DFE9B-1D4F-FB6D-711A-EBF0C08BA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05E57-C6E6-65BF-6CEE-24B6F6F9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28614-BEA1-4E4C-A3D4-C1F6125A19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534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493A4E-4DFB-D3D0-5B88-E6121A14B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506CAE-623A-548D-967A-7CC9CE381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88E246-CCE9-4ACF-F9DD-D4325ED6C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AF52F-6882-49BC-AF54-CEAF0D6B78A5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E63DF8-9A25-458B-81ED-4E56977C5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F8E4E9-40DF-1645-1570-716386E1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28614-BEA1-4E4C-A3D4-C1F6125A19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856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ACAF9-C7E2-80E7-97F7-383B1440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782454-9458-58ED-64F5-0C4EABF4B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9C3357-0E2A-98E9-4325-C79E00291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AF52F-6882-49BC-AF54-CEAF0D6B78A5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7A8EDA-C584-BD87-630C-BA02054E5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3B3901-DA52-6A31-C4F3-CFCDEDF93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28614-BEA1-4E4C-A3D4-C1F6125A19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4B15AB-BFEC-D105-49AE-0AF392028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BAE660-0003-5921-6161-6A6835ED4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5570FC-6BDE-CC96-D29C-200BDC52E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0F4BFA-A000-5B8C-7F8E-9A50F6439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AF52F-6882-49BC-AF54-CEAF0D6B78A5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B51DB6-38FE-31AE-4E7D-43974D68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E6E350-F509-D3B5-0731-BC881FC7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28614-BEA1-4E4C-A3D4-C1F6125A19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118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9EF33D-52B1-57A2-F052-9AA0B99C9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2E0A70-DB96-E099-851D-F86B3BAC4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207476-C84A-C9FA-8157-9DBEDF4C1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BE7865-9FDB-5722-CFB7-F30020683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1F51CD-C705-6B40-9F25-35B733811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6FE4CE-1E95-42F5-9A40-03B0BE819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AF52F-6882-49BC-AF54-CEAF0D6B78A5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8A8418-3361-0607-3EB6-2DEA876A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0CEFF61-D0E6-2786-E30D-A80C38A1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28614-BEA1-4E4C-A3D4-C1F6125A19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872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B6C6BE-E700-90F1-FE3C-1D999CC6D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07F3DF-B5F0-0CD9-3C81-3ACF0827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AF52F-6882-49BC-AF54-CEAF0D6B78A5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CC6853-F549-E8DF-59B5-19EA5F7E9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9E0745-3842-C21B-FEA6-02C02A7F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28614-BEA1-4E4C-A3D4-C1F6125A19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48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B8ECA1-A498-BDE0-CD24-F42F8DF45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AF52F-6882-49BC-AF54-CEAF0D6B78A5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65EF90-D775-0A3A-CB74-42A32D0CC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EF1E27-1D3C-8ED0-E73F-40595368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28614-BEA1-4E4C-A3D4-C1F6125A19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84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567FA-C099-6F4B-E3CF-A238F04CB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C6B94D-9743-4C1A-FA84-4BC6207FF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8FC7D3-E76B-6572-046D-BF56D01DF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58E9F5-D723-36A5-EBB8-C5BD68DA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AF52F-6882-49BC-AF54-CEAF0D6B78A5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715A61-0CAF-85B4-6B50-32354E1DB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6DDDDC-E8FE-54D9-0471-4C110EFB0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28614-BEA1-4E4C-A3D4-C1F6125A19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405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01B40-C15D-7109-7A41-1888E704C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16A64B-1B07-D9FB-8228-3621EEBC9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E14C41-79AC-43AB-67B7-C1A462183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50FEB1-A3D6-1448-9F6A-FAD053DD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AF52F-6882-49BC-AF54-CEAF0D6B78A5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E2FE47-A1C1-A432-2D6B-AFBC374E9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EF62B2-52D4-873F-0F3F-033B0AE8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28614-BEA1-4E4C-A3D4-C1F6125A19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610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09093-B7FB-41BD-12A3-5CF5CCC9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380E0E-D4BC-FEF6-CB8E-3C36FB4DD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1EFEE4-9833-2FAB-6596-BD601403D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AF52F-6882-49BC-AF54-CEAF0D6B78A5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6FC8DB-FCEB-BD68-9656-516F1EFC6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F8B883-3D91-94E2-DACE-550F0FCC0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28614-BEA1-4E4C-A3D4-C1F6125A19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712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712619E-6ADF-113C-8489-103407BD3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E68C9-D1A6-38A9-022C-6C780F90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E19FDC-081A-C362-FCF3-8BFC3E0B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AF52F-6882-49BC-AF54-CEAF0D6B78A5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62ABE5-A484-AECC-B409-C5F67FAE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EC0E87-F4DC-933A-B2F9-ABDA450B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28614-BEA1-4E4C-A3D4-C1F6125A19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48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722D45-BAAA-A1AD-F330-B89EBAB7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5" y="209400"/>
            <a:ext cx="11220090" cy="4716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864B18-7178-B449-1ECC-7430A39A2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955" y="806254"/>
            <a:ext cx="11220090" cy="5370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53D178-039A-F152-B230-EA3978867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AF52F-6882-49BC-AF54-CEAF0D6B78A5}" type="datetimeFigureOut">
              <a:rPr lang="ko-KR" altLang="en-US" smtClean="0"/>
              <a:t>2025-03-20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E9DBEB-6211-5072-966C-3A6626943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BFCAE4-77DA-3FE8-9291-152AF1146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28614-BEA1-4E4C-A3D4-C1F6125A198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362A925-6AAA-043D-FF43-0F5058EDBE76}"/>
              </a:ext>
            </a:extLst>
          </p:cNvPr>
          <p:cNvCxnSpPr/>
          <p:nvPr/>
        </p:nvCxnSpPr>
        <p:spPr>
          <a:xfrm>
            <a:off x="0" y="74364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53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google/blog/transformers-for-image-recognition-at-scale/" TargetMode="External"/><Relationship Id="rId2" Type="http://schemas.openxmlformats.org/officeDocument/2006/relationships/hyperlink" Target="https://www.superannotate.com/blog/guide-to-convolutional-neural-network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91Qipj5NMn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www.youtube.com/watch?v=Fypk0ec32BU&amp;t=429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jpe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oon-walker.medium.com/transformer%EB%8A%94-inductive-bias%EC%9D%B4-%EB%B6%80%EC%A1%B1%ED%95%98%EB%8B%A4%EB%9D%BC%EB%8A%94-%EC%9D%98%EB%AF%B8%EB%8A%94-%EB%AC%B4%EC%97%87%EC%9D%BC%EA%B9%8C-4f6005d32558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316B94-7BA3-4101-AF7E-27315DA768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The Papers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F52CE5-C782-4B16-A8E0-D95CFB2EC3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AN IMAGE IS WORTH 16X16 WORDS: TRANSFORMERS FOR IMAGE RECOGNITION AT SCALE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8824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58CA598-D214-4B05-BEC1-03C391EE4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C1624DD-4414-4A8E-8890-9918112DF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Dosovitskiy</a:t>
            </a:r>
            <a:r>
              <a:rPr lang="en-US" altLang="ko-KR" dirty="0"/>
              <a:t>, Alexey, et al. "An Image is Worth 16x16 Words: Transformers for Image Recognition at Scale." </a:t>
            </a:r>
            <a:r>
              <a:rPr lang="en-US" altLang="ko-KR" i="1" dirty="0"/>
              <a:t>International Conference on Learning Representations</a:t>
            </a:r>
            <a:r>
              <a:rPr lang="en-US" altLang="ko-KR" dirty="0"/>
              <a:t>. 2020.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21336F-4CCD-44EF-8DF2-DBA85156B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11" y="2081711"/>
            <a:ext cx="6039693" cy="28197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364A6CC-01A3-4562-B50E-63123D606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053" y="1925523"/>
            <a:ext cx="2782769" cy="368242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bliqueTopRigh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411645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619E32-8E6F-49A5-96FB-C8DFCB0C2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4B7585-888D-4748-8A5C-486F20D9A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이미지 분류 문제에서</a:t>
            </a:r>
            <a:r>
              <a:rPr lang="en-US" altLang="ko-KR" dirty="0"/>
              <a:t>, </a:t>
            </a:r>
            <a:r>
              <a:rPr lang="ko-KR" altLang="en-US" dirty="0"/>
              <a:t>이미지를</a:t>
            </a:r>
            <a:r>
              <a:rPr lang="en-US" altLang="ko-KR" dirty="0"/>
              <a:t> </a:t>
            </a:r>
            <a:r>
              <a:rPr lang="ko-KR" altLang="en-US" dirty="0"/>
              <a:t>작은 패치 </a:t>
            </a:r>
            <a:r>
              <a:rPr lang="en-US" altLang="ko-KR" dirty="0"/>
              <a:t>(16 X 16) </a:t>
            </a:r>
            <a:r>
              <a:rPr lang="ko-KR" altLang="en-US" dirty="0"/>
              <a:t>로 나누어</a:t>
            </a:r>
            <a:r>
              <a:rPr lang="en-US" altLang="ko-KR" dirty="0"/>
              <a:t>, Token</a:t>
            </a:r>
            <a:r>
              <a:rPr lang="ko-KR" altLang="en-US" dirty="0"/>
              <a:t> 처럼 처리하여 </a:t>
            </a:r>
            <a:r>
              <a:rPr lang="en-US" altLang="ko-KR" dirty="0"/>
              <a:t>Transformer</a:t>
            </a:r>
            <a:r>
              <a:rPr lang="ko-KR" altLang="en-US" dirty="0"/>
              <a:t>에 입력</a:t>
            </a:r>
            <a:endParaRPr lang="en-US" altLang="ko-KR" dirty="0"/>
          </a:p>
          <a:p>
            <a:r>
              <a:rPr lang="en-US" altLang="ko-KR" dirty="0"/>
              <a:t>CNN</a:t>
            </a:r>
            <a:r>
              <a:rPr lang="ko-KR" altLang="en-US" dirty="0"/>
              <a:t> 없이도 좋은 성능을 달성</a:t>
            </a:r>
            <a:r>
              <a:rPr lang="en-US" altLang="ko-KR" dirty="0"/>
              <a:t>(</a:t>
            </a:r>
            <a:r>
              <a:rPr lang="ko-KR" altLang="en-US" dirty="0"/>
              <a:t>단 대규모 데이터셋에 한정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전이학습 </a:t>
            </a:r>
            <a:r>
              <a:rPr lang="en-US" altLang="ko-KR" dirty="0"/>
              <a:t>(Transfer Learning)</a:t>
            </a:r>
            <a:r>
              <a:rPr lang="ko-KR" altLang="en-US" dirty="0"/>
              <a:t>에도 강점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이후 </a:t>
            </a:r>
            <a:r>
              <a:rPr lang="en-US" altLang="ko-KR" dirty="0" err="1"/>
              <a:t>Swin</a:t>
            </a:r>
            <a:r>
              <a:rPr lang="en-US" altLang="ko-KR" dirty="0"/>
              <a:t> Transformer, Distilled </a:t>
            </a:r>
            <a:r>
              <a:rPr lang="en-US" altLang="ko-KR" dirty="0" err="1"/>
              <a:t>ViT</a:t>
            </a:r>
            <a:r>
              <a:rPr lang="en-US" altLang="ko-KR" dirty="0"/>
              <a:t>, Masked Auto encoder</a:t>
            </a:r>
            <a:r>
              <a:rPr lang="ko-KR" altLang="en-US" dirty="0"/>
              <a:t>로 발전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참고자료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https://www.superannotate.com/blog/guide-to-convolutional-neural-networks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https://research.google/blog/transformers-for-image-recognition-at-scale/</a:t>
            </a:r>
            <a:endParaRPr lang="en-US" altLang="ko-KR" dirty="0"/>
          </a:p>
          <a:p>
            <a:pPr lvl="1"/>
            <a:r>
              <a:rPr lang="en-US" altLang="ko-KR" dirty="0">
                <a:hlinkClick r:id="rId4"/>
              </a:rPr>
              <a:t>https://www.youtube.com/watch?v=91Qipj5NMnk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75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BDCB0-FB20-4108-B478-F9CF148D5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CNN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29F7421-794A-4580-948F-352957149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55" y="806254"/>
            <a:ext cx="11220090" cy="774734"/>
          </a:xfrm>
        </p:spPr>
        <p:txBody>
          <a:bodyPr>
            <a:noAutofit/>
          </a:bodyPr>
          <a:lstStyle/>
          <a:p>
            <a:r>
              <a:rPr lang="ko-KR" altLang="en-US" dirty="0"/>
              <a:t>이미지 분류 문제를 해결하기 위해 </a:t>
            </a:r>
            <a:r>
              <a:rPr lang="en-US" altLang="ko-KR" dirty="0"/>
              <a:t>MLP</a:t>
            </a:r>
            <a:r>
              <a:rPr lang="ko-KR" altLang="en-US" dirty="0"/>
              <a:t>를 사용  </a:t>
            </a:r>
            <a:r>
              <a:rPr lang="en-US" altLang="ko-KR" dirty="0"/>
              <a:t>[</a:t>
            </a:r>
            <a:r>
              <a:rPr lang="en-US" altLang="ko-KR" dirty="0" err="1"/>
              <a:t>LeNET</a:t>
            </a:r>
            <a:r>
              <a:rPr lang="en-US" altLang="ko-KR" dirty="0"/>
              <a:t>] / </a:t>
            </a:r>
            <a:r>
              <a:rPr lang="en-US" altLang="ko-KR" dirty="0" err="1"/>
              <a:t>LeCun</a:t>
            </a:r>
            <a:r>
              <a:rPr lang="en-US" altLang="ko-KR" dirty="0"/>
              <a:t>, Yann, et al. "Gradient-based learning applied to document recognition." </a:t>
            </a:r>
            <a:r>
              <a:rPr lang="en-US" altLang="ko-KR" i="1" dirty="0"/>
              <a:t>Proceedings of the IEEE</a:t>
            </a:r>
            <a:r>
              <a:rPr lang="en-US" altLang="ko-KR" dirty="0"/>
              <a:t> 86.11 (1998): 2278-2324.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AE41CA6-3C2D-4842-B103-F159A249F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28" y="1913537"/>
            <a:ext cx="7095946" cy="19323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0D1E6FC-096D-4122-88BC-57B51768B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99" y="4162587"/>
            <a:ext cx="5943600" cy="2228850"/>
          </a:xfrm>
          <a:prstGeom prst="rect">
            <a:avLst/>
          </a:prstGeom>
        </p:spPr>
      </p:pic>
      <p:pic>
        <p:nvPicPr>
          <p:cNvPr id="2054" name="Picture 6" descr="The 5 Variants of Multi-Layer Perceptron for Collaborative Filtering —  James Le">
            <a:extLst>
              <a:ext uri="{FF2B5EF4-FFF2-40B4-BE49-F238E27FC236}">
                <a16:creationId xmlns:a16="http://schemas.microsoft.com/office/drawing/2014/main" id="{F09B5E75-4A3E-4A16-9EB2-9CEA5FEC9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855" y="4162587"/>
            <a:ext cx="3721100" cy="2451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ABA7AC1-EEC0-4AFC-8AA6-3726ACB67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9574" y="1570482"/>
            <a:ext cx="4545069" cy="193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28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E3DE9-FBB5-423E-BE61-0C70AAAB6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AlexaNet</a:t>
            </a:r>
            <a:r>
              <a:rPr lang="en-US" altLang="ko-KR" dirty="0"/>
              <a:t> (2012)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ADDAF0-E083-4AAF-9D16-B1889E1B4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55" y="3135188"/>
            <a:ext cx="5125165" cy="1781424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E0FB932-C6FC-4779-98A4-1EA37CB18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55" y="806255"/>
            <a:ext cx="11220090" cy="336746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ko-KR" altLang="en-US" dirty="0" err="1"/>
              <a:t>딥러닝</a:t>
            </a:r>
            <a:r>
              <a:rPr lang="ko-KR" altLang="en-US" dirty="0"/>
              <a:t> 혁명의 시작 </a:t>
            </a:r>
            <a:r>
              <a:rPr lang="en-US" altLang="ko-KR" dirty="0"/>
              <a:t>(2012</a:t>
            </a:r>
            <a:r>
              <a:rPr lang="ko-KR" altLang="en-US" dirty="0"/>
              <a:t>년 </a:t>
            </a:r>
            <a:r>
              <a:rPr lang="en-US" altLang="ko-KR" dirty="0"/>
              <a:t>ImageNet Large Scale Visual Recognition Challenge (ILSVRC) </a:t>
            </a:r>
            <a:r>
              <a:rPr lang="ko-KR" altLang="en-US" dirty="0"/>
              <a:t>우승</a:t>
            </a:r>
            <a:r>
              <a:rPr lang="en-US" altLang="ko-KR" dirty="0"/>
              <a:t>, </a:t>
            </a:r>
            <a:r>
              <a:rPr lang="ko-KR" altLang="en-US" dirty="0"/>
              <a:t>오차율 </a:t>
            </a:r>
            <a:r>
              <a:rPr lang="en-US" altLang="ko-KR" dirty="0"/>
              <a:t>15.3%)</a:t>
            </a:r>
          </a:p>
          <a:p>
            <a:r>
              <a:rPr lang="en-US" altLang="ko-KR" dirty="0"/>
              <a:t>5</a:t>
            </a:r>
            <a:r>
              <a:rPr lang="ko-KR" altLang="en-US" dirty="0"/>
              <a:t>개의 </a:t>
            </a:r>
            <a:r>
              <a:rPr lang="en-US" altLang="ko-KR" dirty="0"/>
              <a:t>Conv Net, 3</a:t>
            </a:r>
            <a:r>
              <a:rPr lang="ko-KR" altLang="en-US" dirty="0"/>
              <a:t>개의 </a:t>
            </a:r>
            <a:r>
              <a:rPr lang="en-US" altLang="ko-KR" dirty="0"/>
              <a:t>FCN</a:t>
            </a:r>
            <a:r>
              <a:rPr lang="en-US" altLang="ko-KR" dirty="0">
                <a:sym typeface="Wingdings" panose="05000000000000000000" pitchFamily="2" charset="2"/>
              </a:rPr>
              <a:t> 60M parameter</a:t>
            </a:r>
            <a:endParaRPr lang="en-US" altLang="ko-KR" dirty="0"/>
          </a:p>
          <a:p>
            <a:r>
              <a:rPr lang="en-US" altLang="ko-KR" dirty="0" err="1"/>
              <a:t>ReLU</a:t>
            </a:r>
            <a:r>
              <a:rPr lang="en-US" altLang="ko-KR" dirty="0"/>
              <a:t> </a:t>
            </a:r>
            <a:r>
              <a:rPr lang="ko-KR" altLang="en-US" dirty="0"/>
              <a:t>의 사용 </a:t>
            </a:r>
            <a:r>
              <a:rPr lang="en-US" altLang="ko-KR" dirty="0"/>
              <a:t>/ Dropout</a:t>
            </a:r>
            <a:r>
              <a:rPr lang="ko-KR" altLang="en-US" dirty="0"/>
              <a:t>을 이용한 과적합방지</a:t>
            </a:r>
            <a:endParaRPr lang="en-US" altLang="ko-KR" dirty="0"/>
          </a:p>
          <a:p>
            <a:r>
              <a:rPr lang="en-US" altLang="ko-KR" dirty="0"/>
              <a:t>Data </a:t>
            </a:r>
            <a:r>
              <a:rPr lang="en-US" altLang="ko-KR" dirty="0" err="1"/>
              <a:t>Augtmentation</a:t>
            </a:r>
            <a:endParaRPr lang="en-US" altLang="ko-KR" dirty="0"/>
          </a:p>
          <a:p>
            <a:r>
              <a:rPr lang="en-US" altLang="ko-KR" dirty="0"/>
              <a:t>GPU</a:t>
            </a:r>
            <a:r>
              <a:rPr lang="ko-KR" altLang="en-US" dirty="0"/>
              <a:t>병렬처리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408334A-F323-4A78-85F1-C56EBFEED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804" y="3135188"/>
            <a:ext cx="5762479" cy="216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431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483C9-8C47-4066-9AE6-DF292F48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ResNET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3D6556-A507-4FC5-AC6C-6CF00515F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r>
              <a:rPr lang="en-US" altLang="ko-KR" dirty="0"/>
              <a:t>Layer</a:t>
            </a:r>
            <a:r>
              <a:rPr lang="ko-KR" altLang="en-US" dirty="0"/>
              <a:t>의 숫자가 많아질수록 성능이 떨어지는 문제 발생 </a:t>
            </a:r>
            <a:r>
              <a:rPr lang="en-US" altLang="ko-KR" dirty="0"/>
              <a:t>(Gradient Vanishing) </a:t>
            </a:r>
          </a:p>
          <a:p>
            <a:r>
              <a:rPr lang="ko-KR" altLang="en-US" dirty="0"/>
              <a:t>이를</a:t>
            </a:r>
            <a:r>
              <a:rPr lang="en-US" altLang="ko-KR" dirty="0"/>
              <a:t> </a:t>
            </a:r>
            <a:r>
              <a:rPr lang="ko-KR" altLang="en-US" dirty="0"/>
              <a:t>해결하기 위해 </a:t>
            </a:r>
            <a:r>
              <a:rPr lang="en-US" altLang="ko-KR" dirty="0"/>
              <a:t>Residual Learning </a:t>
            </a:r>
            <a:r>
              <a:rPr lang="ko-KR" altLang="en-US" dirty="0"/>
              <a:t>을 도입</a:t>
            </a:r>
            <a:r>
              <a:rPr lang="en-US" altLang="ko-KR" dirty="0"/>
              <a:t>, 2015 </a:t>
            </a:r>
            <a:r>
              <a:rPr lang="en-US" altLang="ko-KR" dirty="0" err="1"/>
              <a:t>ImagNet</a:t>
            </a:r>
            <a:r>
              <a:rPr lang="en-US" altLang="ko-KR" dirty="0"/>
              <a:t> </a:t>
            </a:r>
            <a:r>
              <a:rPr lang="ko-KR" altLang="en-US" dirty="0" err="1"/>
              <a:t>챌린지</a:t>
            </a:r>
            <a:r>
              <a:rPr lang="ko-KR" altLang="en-US" dirty="0"/>
              <a:t> 우승 </a:t>
            </a:r>
            <a:r>
              <a:rPr lang="en-US" altLang="ko-KR" dirty="0"/>
              <a:t>(3.57%)</a:t>
            </a:r>
          </a:p>
          <a:p>
            <a:r>
              <a:rPr lang="en-US" altLang="ko-KR" dirty="0" err="1"/>
              <a:t>Kaiming</a:t>
            </a:r>
            <a:r>
              <a:rPr lang="en-US" altLang="ko-KR" dirty="0"/>
              <a:t> He, </a:t>
            </a:r>
            <a:r>
              <a:rPr lang="en-US" altLang="ko-KR" dirty="0" err="1"/>
              <a:t>Xiangyu</a:t>
            </a:r>
            <a:r>
              <a:rPr lang="en-US" altLang="ko-KR" dirty="0"/>
              <a:t> Zhang, </a:t>
            </a:r>
            <a:r>
              <a:rPr lang="en-US" altLang="ko-KR" dirty="0" err="1"/>
              <a:t>Shaoqing</a:t>
            </a:r>
            <a:r>
              <a:rPr lang="en-US" altLang="ko-KR" dirty="0"/>
              <a:t> Ren, and Jian Sun. Deep residual learning for image </a:t>
            </a:r>
            <a:r>
              <a:rPr lang="en-US" altLang="ko-KR" dirty="0" err="1"/>
              <a:t>recog</a:t>
            </a:r>
            <a:r>
              <a:rPr lang="en-US" altLang="ko-KR" dirty="0"/>
              <a:t>- </a:t>
            </a:r>
            <a:r>
              <a:rPr lang="en-US" altLang="ko-KR" dirty="0" err="1"/>
              <a:t>nition</a:t>
            </a:r>
            <a:r>
              <a:rPr lang="en-US" altLang="ko-KR" dirty="0"/>
              <a:t>. In CVPR, 2016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5ADC28-6061-440F-810A-7F90E18ED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672" y="2474389"/>
            <a:ext cx="3649852" cy="205102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6D282F6-D266-4982-9D12-8FD6B06D1E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25"/>
          <a:stretch/>
        </p:blipFill>
        <p:spPr>
          <a:xfrm>
            <a:off x="66712" y="2569439"/>
            <a:ext cx="2571368" cy="18006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157F2EC-BF43-4C97-B35E-F357F0A690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225"/>
          <a:stretch/>
        </p:blipFill>
        <p:spPr>
          <a:xfrm>
            <a:off x="184533" y="4457841"/>
            <a:ext cx="2571368" cy="18006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5889674-22B5-4771-829F-6FD8E3ADA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671" y="3974502"/>
            <a:ext cx="3649852" cy="245868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BF8E55D-BBC9-4500-927E-30005C9405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512" y="1955905"/>
            <a:ext cx="5229955" cy="176237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53F2D3B-2E25-4C58-A2C2-244E367EC9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5672" y="4651719"/>
            <a:ext cx="4067988" cy="180429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A6456B-2902-4CC3-8DE0-DC72320E5AAB}"/>
              </a:ext>
            </a:extLst>
          </p:cNvPr>
          <p:cNvSpPr/>
          <p:nvPr/>
        </p:nvSpPr>
        <p:spPr>
          <a:xfrm>
            <a:off x="3238500" y="6499015"/>
            <a:ext cx="7569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>
                <a:hlinkClick r:id="rId7"/>
              </a:rPr>
              <a:t>https://www.youtube.com/watch?v=Fypk0ec32BU&amp;t=429s</a:t>
            </a:r>
            <a:endParaRPr lang="en-US" altLang="ko-KR" sz="1200" dirty="0"/>
          </a:p>
          <a:p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861302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AF2CDF-8BE9-4E9E-895D-93FDA355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Encoder-Decoder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E5566F-272A-4DCF-B013-DD3B463E84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76" r="7524"/>
          <a:stretch/>
        </p:blipFill>
        <p:spPr>
          <a:xfrm>
            <a:off x="161462" y="2546500"/>
            <a:ext cx="6311901" cy="41021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1F3F745-BC0F-4F7B-8910-2586ADF22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55" y="806255"/>
            <a:ext cx="11220090" cy="768546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altLang="ko-KR" dirty="0"/>
              <a:t>U-NET</a:t>
            </a:r>
            <a:r>
              <a:rPr lang="ko-KR" altLang="en-US" dirty="0"/>
              <a:t>에서 </a:t>
            </a:r>
            <a:r>
              <a:rPr lang="en-US" altLang="ko-KR" dirty="0"/>
              <a:t>Encoder-Decoder</a:t>
            </a:r>
            <a:r>
              <a:rPr lang="ko-KR" altLang="en-US" dirty="0"/>
              <a:t>구조를 제안</a:t>
            </a:r>
            <a:endParaRPr lang="en-US" altLang="ko-KR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C50C7B5-154E-4F39-BA49-5A2B7FE3C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152233"/>
              </p:ext>
            </p:extLst>
          </p:nvPr>
        </p:nvGraphicFramePr>
        <p:xfrm>
          <a:off x="7483938" y="1190528"/>
          <a:ext cx="4546600" cy="2060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46600">
                  <a:extLst>
                    <a:ext uri="{9D8B030D-6E8A-4147-A177-3AD203B41FA5}">
                      <a16:colId xmlns:a16="http://schemas.microsoft.com/office/drawing/2014/main" val="1694300699"/>
                    </a:ext>
                  </a:extLst>
                </a:gridCol>
              </a:tblGrid>
              <a:tr h="1030336">
                <a:tc>
                  <a:txBody>
                    <a:bodyPr/>
                    <a:lstStyle/>
                    <a:p>
                      <a:pPr marL="177800" indent="-177800" latinLnBrk="1">
                        <a:buFontTx/>
                        <a:buChar char="-"/>
                      </a:pPr>
                      <a:r>
                        <a:rPr lang="ko-KR" altLang="en-US" sz="1200" dirty="0"/>
                        <a:t>정보의 압축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추상화</a:t>
                      </a:r>
                      <a:endParaRPr lang="en-US" altLang="ko-KR" sz="1200" dirty="0"/>
                    </a:p>
                    <a:p>
                      <a:pPr marL="177800" indent="-177800" latinLnBrk="1">
                        <a:buFontTx/>
                        <a:buChar char="-"/>
                      </a:pPr>
                      <a:r>
                        <a:rPr lang="ko-KR" altLang="en-US" sz="1200" dirty="0"/>
                        <a:t>입출력의 크기가 달라도 처리가능</a:t>
                      </a:r>
                      <a:endParaRPr lang="en-US" altLang="ko-KR" sz="1200" dirty="0"/>
                    </a:p>
                    <a:p>
                      <a:pPr marL="177800" indent="-177800" latinLnBrk="1">
                        <a:buFontTx/>
                        <a:buChar char="-"/>
                      </a:pPr>
                      <a:r>
                        <a:rPr lang="en-US" altLang="ko-KR" sz="1200" dirty="0"/>
                        <a:t>Global Context</a:t>
                      </a:r>
                      <a:r>
                        <a:rPr lang="ko-KR" altLang="en-US" sz="1200" dirty="0"/>
                        <a:t>의 활용</a:t>
                      </a:r>
                      <a:endParaRPr lang="en-US" altLang="ko-KR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792640"/>
                  </a:ext>
                </a:extLst>
              </a:tr>
              <a:tr h="1030336"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정보 손실의 가능성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Skip Connection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dirty="0"/>
                        <a:t>입력정보가 길 경우 </a:t>
                      </a:r>
                      <a:r>
                        <a:rPr lang="en-US" altLang="ko-KR" sz="1200" dirty="0"/>
                        <a:t>Long term memory </a:t>
                      </a:r>
                      <a:r>
                        <a:rPr lang="ko-KR" altLang="en-US" sz="1200" dirty="0"/>
                        <a:t>문제 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200" dirty="0"/>
                        <a:t>Attention!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dirty="0"/>
                        <a:t>고해상도 </a:t>
                      </a:r>
                      <a:r>
                        <a:rPr lang="ko-KR" altLang="en-US" sz="1200" dirty="0" err="1"/>
                        <a:t>입력시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연산량의</a:t>
                      </a:r>
                      <a:r>
                        <a:rPr lang="ko-KR" altLang="en-US" sz="1200" dirty="0"/>
                        <a:t> 증가 </a:t>
                      </a:r>
                      <a:r>
                        <a:rPr lang="en-US" altLang="ko-KR" sz="12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200" dirty="0">
                          <a:sym typeface="Wingdings" panose="05000000000000000000" pitchFamily="2" charset="2"/>
                        </a:rPr>
                        <a:t>피라미드구조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dirty="0"/>
                        <a:t>학습의 난이도 상승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0413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92D9C347-5B91-4230-95FF-C9CD86FCE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712" y="3467461"/>
            <a:ext cx="5599826" cy="318113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17941F7-6390-46B0-A4BC-B252B5A28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71" y="1460367"/>
            <a:ext cx="5782482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54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5E6342-0BD6-4125-841F-2CE337B39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Transformer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C468A7-3D39-4404-8FFF-40B778708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02" y="1920725"/>
            <a:ext cx="5696745" cy="10764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680A59B-429E-4964-B70C-707E63D83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682" y="1073731"/>
            <a:ext cx="3754317" cy="57842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171AB04-D99F-47E4-B5BF-A0D3134E6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337" y="3343124"/>
            <a:ext cx="2453663" cy="3211064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9DCF312-2ABB-4C0A-BBF1-676C37754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55" y="806255"/>
            <a:ext cx="11220090" cy="768546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altLang="ko-KR" dirty="0"/>
              <a:t>RNN,</a:t>
            </a:r>
            <a:r>
              <a:rPr lang="ko-KR" altLang="en-US" dirty="0"/>
              <a:t>  </a:t>
            </a:r>
            <a:r>
              <a:rPr lang="en-US" altLang="ko-KR" dirty="0"/>
              <a:t>LSTM,</a:t>
            </a:r>
            <a:r>
              <a:rPr lang="ko-KR" altLang="en-US" dirty="0"/>
              <a:t> </a:t>
            </a:r>
            <a:r>
              <a:rPr lang="en-US" altLang="ko-KR" dirty="0"/>
              <a:t>GRU</a:t>
            </a:r>
            <a:r>
              <a:rPr lang="ko-KR" altLang="en-US" dirty="0"/>
              <a:t> 기반의 </a:t>
            </a:r>
            <a:r>
              <a:rPr lang="ko-KR" altLang="en-US" dirty="0" err="1"/>
              <a:t>시퀸스처리가</a:t>
            </a:r>
            <a:r>
              <a:rPr lang="ko-KR" altLang="en-US" dirty="0"/>
              <a:t> 가지는 문제 </a:t>
            </a:r>
            <a:r>
              <a:rPr lang="en-US" altLang="ko-KR" dirty="0"/>
              <a:t>(</a:t>
            </a:r>
            <a:r>
              <a:rPr lang="ko-KR" altLang="en-US" dirty="0"/>
              <a:t>병렬연산의 어려움</a:t>
            </a:r>
            <a:r>
              <a:rPr lang="en-US" altLang="ko-KR" dirty="0"/>
              <a:t>, </a:t>
            </a:r>
            <a:r>
              <a:rPr lang="ko-KR" altLang="en-US" dirty="0"/>
              <a:t>길이가 길면 </a:t>
            </a:r>
            <a:r>
              <a:rPr lang="ko-KR" altLang="en-US" dirty="0" err="1"/>
              <a:t>어려워짐</a:t>
            </a:r>
            <a:r>
              <a:rPr lang="en-US" altLang="ko-KR" dirty="0"/>
              <a:t>)</a:t>
            </a:r>
            <a:r>
              <a:rPr lang="ko-KR" altLang="en-US" dirty="0"/>
              <a:t>의 해결을 위해 </a:t>
            </a:r>
            <a:br>
              <a:rPr lang="en-US" altLang="ko-KR" dirty="0"/>
            </a:br>
            <a:r>
              <a:rPr lang="en-US" altLang="ko-KR" dirty="0"/>
              <a:t>Attention </a:t>
            </a:r>
            <a:r>
              <a:rPr lang="ko-KR" altLang="en-US" dirty="0"/>
              <a:t>메커니즘을 이용하여 입출력을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23726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B6BF0-8D4E-413D-A064-BAE2BFF9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Vision Transformer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537F14-26D5-449F-8AAF-E24653828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283746"/>
            <a:ext cx="10502899" cy="5428593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ECF73FFB-BCC8-4807-BBCA-CD813F9B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55" y="806255"/>
            <a:ext cx="11220090" cy="768546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altLang="ko-KR" dirty="0"/>
              <a:t>RNN,</a:t>
            </a:r>
            <a:r>
              <a:rPr lang="ko-KR" altLang="en-US" dirty="0"/>
              <a:t>  </a:t>
            </a:r>
            <a:r>
              <a:rPr lang="en-US" altLang="ko-KR" dirty="0"/>
              <a:t>LSTM,</a:t>
            </a:r>
            <a:r>
              <a:rPr lang="ko-KR" altLang="en-US" dirty="0"/>
              <a:t> </a:t>
            </a:r>
            <a:r>
              <a:rPr lang="en-US" altLang="ko-KR" dirty="0"/>
              <a:t>GRU</a:t>
            </a:r>
            <a:r>
              <a:rPr lang="ko-KR" altLang="en-US" dirty="0"/>
              <a:t> 기반의 </a:t>
            </a:r>
            <a:r>
              <a:rPr lang="ko-KR" altLang="en-US" dirty="0" err="1"/>
              <a:t>시퀸스처리가</a:t>
            </a:r>
            <a:r>
              <a:rPr lang="ko-KR" altLang="en-US" dirty="0"/>
              <a:t> 가지는 문제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병렬연산의 어려움</a:t>
            </a:r>
            <a:r>
              <a:rPr lang="en-US" altLang="ko-KR" dirty="0"/>
              <a:t>, </a:t>
            </a:r>
            <a:r>
              <a:rPr lang="ko-KR" altLang="en-US" dirty="0"/>
              <a:t>길이가 길면 </a:t>
            </a:r>
            <a:r>
              <a:rPr lang="ko-KR" altLang="en-US" dirty="0" err="1"/>
              <a:t>어려워짐</a:t>
            </a:r>
            <a:r>
              <a:rPr lang="en-US" altLang="ko-KR" dirty="0"/>
              <a:t>)</a:t>
            </a:r>
            <a:r>
              <a:rPr lang="ko-KR" altLang="en-US" dirty="0"/>
              <a:t>의 해결을 위해 </a:t>
            </a:r>
            <a:br>
              <a:rPr lang="en-US" altLang="ko-KR" dirty="0"/>
            </a:br>
            <a:r>
              <a:rPr lang="en-US" altLang="ko-KR" dirty="0"/>
              <a:t>Attention </a:t>
            </a:r>
            <a:r>
              <a:rPr lang="ko-KR" altLang="en-US" dirty="0"/>
              <a:t>메커니즘을 이용하여 입출력을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4704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81785-BF78-405F-9B8C-8EB0C3EB2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ViT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805F4F-36B2-41EB-9FA0-70A670F7C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563" y="1081086"/>
            <a:ext cx="7959437" cy="547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2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C5575A1D-3F5F-7E72-F99C-E2990D60B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742" y="2377466"/>
            <a:ext cx="8015282" cy="414282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FA2D408-6EB4-565C-652C-A8EA20D0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16F90F-13A1-8E16-4682-638670B21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76" y="1216088"/>
            <a:ext cx="8305271" cy="13204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7E091FA-B6F6-BACC-5295-D0405BC1F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01" y="3069894"/>
            <a:ext cx="4169095" cy="93029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1F9AC44-904E-3177-D4BE-8B6A4C3E62F8}"/>
              </a:ext>
            </a:extLst>
          </p:cNvPr>
          <p:cNvSpPr/>
          <p:nvPr/>
        </p:nvSpPr>
        <p:spPr>
          <a:xfrm>
            <a:off x="9339203" y="4802739"/>
            <a:ext cx="254000" cy="33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FD2D18-5160-9C61-C612-72D62F0299EB}"/>
              </a:ext>
            </a:extLst>
          </p:cNvPr>
          <p:cNvSpPr/>
          <p:nvPr/>
        </p:nvSpPr>
        <p:spPr>
          <a:xfrm>
            <a:off x="10023016" y="4802739"/>
            <a:ext cx="254000" cy="33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48D9B8-ABB9-D654-9A97-3C8356749456}"/>
              </a:ext>
            </a:extLst>
          </p:cNvPr>
          <p:cNvSpPr/>
          <p:nvPr/>
        </p:nvSpPr>
        <p:spPr>
          <a:xfrm>
            <a:off x="9896016" y="3535041"/>
            <a:ext cx="254000" cy="33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46E2407-5AE2-0049-C183-218F15CDA276}"/>
              </a:ext>
            </a:extLst>
          </p:cNvPr>
          <p:cNvSpPr/>
          <p:nvPr/>
        </p:nvSpPr>
        <p:spPr>
          <a:xfrm>
            <a:off x="6389490" y="3263900"/>
            <a:ext cx="254000" cy="33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029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정육면체 1027">
            <a:extLst>
              <a:ext uri="{FF2B5EF4-FFF2-40B4-BE49-F238E27FC236}">
                <a16:creationId xmlns:a16="http://schemas.microsoft.com/office/drawing/2014/main" id="{0BE112B9-C011-8721-097F-50F2291F140F}"/>
              </a:ext>
            </a:extLst>
          </p:cNvPr>
          <p:cNvSpPr/>
          <p:nvPr/>
        </p:nvSpPr>
        <p:spPr>
          <a:xfrm>
            <a:off x="5023677" y="675266"/>
            <a:ext cx="1683218" cy="1681324"/>
          </a:xfrm>
          <a:prstGeom prst="cube">
            <a:avLst>
              <a:gd name="adj" fmla="val 96046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B681B709-A79B-526D-850F-D6D6410E0A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7" t="25298" r="62320" b="46906"/>
          <a:stretch/>
        </p:blipFill>
        <p:spPr>
          <a:xfrm>
            <a:off x="31477" y="5814165"/>
            <a:ext cx="2853961" cy="36701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FE623F6-D676-8DDB-2B2D-4527B6C83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pic>
        <p:nvPicPr>
          <p:cNvPr id="1026" name="Picture 2" descr="Doge Meme 생성기">
            <a:extLst>
              <a:ext uri="{FF2B5EF4-FFF2-40B4-BE49-F238E27FC236}">
                <a16:creationId xmlns:a16="http://schemas.microsoft.com/office/drawing/2014/main" id="{F530E0DA-DA79-5471-2FAB-16C6C1FFD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2071" y="1305216"/>
            <a:ext cx="1954044" cy="19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E9275EE-0445-91D4-FAFB-4562771A1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64027"/>
              </p:ext>
            </p:extLst>
          </p:nvPr>
        </p:nvGraphicFramePr>
        <p:xfrm>
          <a:off x="9942071" y="1305215"/>
          <a:ext cx="1954044" cy="1954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348">
                  <a:extLst>
                    <a:ext uri="{9D8B030D-6E8A-4147-A177-3AD203B41FA5}">
                      <a16:colId xmlns:a16="http://schemas.microsoft.com/office/drawing/2014/main" val="3648169353"/>
                    </a:ext>
                  </a:extLst>
                </a:gridCol>
                <a:gridCol w="651348">
                  <a:extLst>
                    <a:ext uri="{9D8B030D-6E8A-4147-A177-3AD203B41FA5}">
                      <a16:colId xmlns:a16="http://schemas.microsoft.com/office/drawing/2014/main" val="3186928716"/>
                    </a:ext>
                  </a:extLst>
                </a:gridCol>
                <a:gridCol w="651348">
                  <a:extLst>
                    <a:ext uri="{9D8B030D-6E8A-4147-A177-3AD203B41FA5}">
                      <a16:colId xmlns:a16="http://schemas.microsoft.com/office/drawing/2014/main" val="2202521140"/>
                    </a:ext>
                  </a:extLst>
                </a:gridCol>
              </a:tblGrid>
              <a:tr h="6513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810273"/>
                  </a:ext>
                </a:extLst>
              </a:tr>
              <a:tr h="6513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009010"/>
                  </a:ext>
                </a:extLst>
              </a:tr>
              <a:tr h="6513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297412"/>
                  </a:ext>
                </a:extLst>
              </a:tr>
            </a:tbl>
          </a:graphicData>
        </a:graphic>
      </p:graphicFrame>
      <p:sp>
        <p:nvSpPr>
          <p:cNvPr id="5" name="정육면체 4">
            <a:extLst>
              <a:ext uri="{FF2B5EF4-FFF2-40B4-BE49-F238E27FC236}">
                <a16:creationId xmlns:a16="http://schemas.microsoft.com/office/drawing/2014/main" id="{4D985E84-A1CE-2A26-E795-97A7CA69C4E4}"/>
              </a:ext>
            </a:extLst>
          </p:cNvPr>
          <p:cNvSpPr/>
          <p:nvPr/>
        </p:nvSpPr>
        <p:spPr>
          <a:xfrm>
            <a:off x="503617" y="3017208"/>
            <a:ext cx="416833" cy="464801"/>
          </a:xfrm>
          <a:prstGeom prst="cube">
            <a:avLst>
              <a:gd name="adj" fmla="val 4686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정육면체 13">
            <a:extLst>
              <a:ext uri="{FF2B5EF4-FFF2-40B4-BE49-F238E27FC236}">
                <a16:creationId xmlns:a16="http://schemas.microsoft.com/office/drawing/2014/main" id="{A2B3B920-A61F-991A-C8F7-4C4982A3D776}"/>
              </a:ext>
            </a:extLst>
          </p:cNvPr>
          <p:cNvSpPr/>
          <p:nvPr/>
        </p:nvSpPr>
        <p:spPr>
          <a:xfrm>
            <a:off x="2115976" y="1927311"/>
            <a:ext cx="1683218" cy="1681323"/>
          </a:xfrm>
          <a:prstGeom prst="cube">
            <a:avLst>
              <a:gd name="adj" fmla="val 9510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BE4FB698-2702-4593-B106-839EF1603F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673119"/>
              </p:ext>
            </p:extLst>
          </p:nvPr>
        </p:nvGraphicFramePr>
        <p:xfrm>
          <a:off x="8092550" y="2359176"/>
          <a:ext cx="935598" cy="957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66">
                  <a:extLst>
                    <a:ext uri="{9D8B030D-6E8A-4147-A177-3AD203B41FA5}">
                      <a16:colId xmlns:a16="http://schemas.microsoft.com/office/drawing/2014/main" val="3648169353"/>
                    </a:ext>
                  </a:extLst>
                </a:gridCol>
                <a:gridCol w="311866">
                  <a:extLst>
                    <a:ext uri="{9D8B030D-6E8A-4147-A177-3AD203B41FA5}">
                      <a16:colId xmlns:a16="http://schemas.microsoft.com/office/drawing/2014/main" val="3186928716"/>
                    </a:ext>
                  </a:extLst>
                </a:gridCol>
                <a:gridCol w="311866">
                  <a:extLst>
                    <a:ext uri="{9D8B030D-6E8A-4147-A177-3AD203B41FA5}">
                      <a16:colId xmlns:a16="http://schemas.microsoft.com/office/drawing/2014/main" val="2202521140"/>
                    </a:ext>
                  </a:extLst>
                </a:gridCol>
              </a:tblGrid>
              <a:tr h="3191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810273"/>
                  </a:ext>
                </a:extLst>
              </a:tr>
              <a:tr h="3191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009010"/>
                  </a:ext>
                </a:extLst>
              </a:tr>
              <a:tr h="3191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297412"/>
                  </a:ext>
                </a:extLst>
              </a:tr>
            </a:tbl>
          </a:graphicData>
        </a:graphic>
      </p:graphicFrame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922A722E-00FE-899F-D56B-898953D43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723068"/>
              </p:ext>
            </p:extLst>
          </p:nvPr>
        </p:nvGraphicFramePr>
        <p:xfrm>
          <a:off x="4681881" y="5215444"/>
          <a:ext cx="935598" cy="957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66">
                  <a:extLst>
                    <a:ext uri="{9D8B030D-6E8A-4147-A177-3AD203B41FA5}">
                      <a16:colId xmlns:a16="http://schemas.microsoft.com/office/drawing/2014/main" val="3648169353"/>
                    </a:ext>
                  </a:extLst>
                </a:gridCol>
                <a:gridCol w="311866">
                  <a:extLst>
                    <a:ext uri="{9D8B030D-6E8A-4147-A177-3AD203B41FA5}">
                      <a16:colId xmlns:a16="http://schemas.microsoft.com/office/drawing/2014/main" val="3186928716"/>
                    </a:ext>
                  </a:extLst>
                </a:gridCol>
                <a:gridCol w="311866">
                  <a:extLst>
                    <a:ext uri="{9D8B030D-6E8A-4147-A177-3AD203B41FA5}">
                      <a16:colId xmlns:a16="http://schemas.microsoft.com/office/drawing/2014/main" val="2202521140"/>
                    </a:ext>
                  </a:extLst>
                </a:gridCol>
              </a:tblGrid>
              <a:tr h="3191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810273"/>
                  </a:ext>
                </a:extLst>
              </a:tr>
              <a:tr h="3191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009010"/>
                  </a:ext>
                </a:extLst>
              </a:tr>
              <a:tr h="3191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ko-KR" alt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297412"/>
                  </a:ext>
                </a:extLst>
              </a:tr>
            </a:tbl>
          </a:graphicData>
        </a:graphic>
      </p:graphicFrame>
      <p:sp>
        <p:nvSpPr>
          <p:cNvPr id="32" name="정육면체 31">
            <a:extLst>
              <a:ext uri="{FF2B5EF4-FFF2-40B4-BE49-F238E27FC236}">
                <a16:creationId xmlns:a16="http://schemas.microsoft.com/office/drawing/2014/main" id="{7F179AA2-F72D-F365-30B4-A56ACE213E37}"/>
              </a:ext>
            </a:extLst>
          </p:cNvPr>
          <p:cNvSpPr/>
          <p:nvPr/>
        </p:nvSpPr>
        <p:spPr>
          <a:xfrm>
            <a:off x="6177139" y="5540401"/>
            <a:ext cx="643130" cy="673873"/>
          </a:xfrm>
          <a:prstGeom prst="cube">
            <a:avLst>
              <a:gd name="adj" fmla="val 8310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정육면체 32">
            <a:extLst>
              <a:ext uri="{FF2B5EF4-FFF2-40B4-BE49-F238E27FC236}">
                <a16:creationId xmlns:a16="http://schemas.microsoft.com/office/drawing/2014/main" id="{C48623A8-7D56-1541-1C96-8A0CCFBD9970}"/>
              </a:ext>
            </a:extLst>
          </p:cNvPr>
          <p:cNvSpPr/>
          <p:nvPr/>
        </p:nvSpPr>
        <p:spPr>
          <a:xfrm>
            <a:off x="6339674" y="5540401"/>
            <a:ext cx="643130" cy="673873"/>
          </a:xfrm>
          <a:prstGeom prst="cube">
            <a:avLst>
              <a:gd name="adj" fmla="val 8310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정육면체 33">
            <a:extLst>
              <a:ext uri="{FF2B5EF4-FFF2-40B4-BE49-F238E27FC236}">
                <a16:creationId xmlns:a16="http://schemas.microsoft.com/office/drawing/2014/main" id="{1C3003C8-624B-443B-A94F-6D2F58C52DB4}"/>
              </a:ext>
            </a:extLst>
          </p:cNvPr>
          <p:cNvSpPr/>
          <p:nvPr/>
        </p:nvSpPr>
        <p:spPr>
          <a:xfrm>
            <a:off x="6503140" y="5540401"/>
            <a:ext cx="643130" cy="673873"/>
          </a:xfrm>
          <a:prstGeom prst="cube">
            <a:avLst>
              <a:gd name="adj" fmla="val 8310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정육면체 34">
            <a:extLst>
              <a:ext uri="{FF2B5EF4-FFF2-40B4-BE49-F238E27FC236}">
                <a16:creationId xmlns:a16="http://schemas.microsoft.com/office/drawing/2014/main" id="{22BE5F1F-A087-83D4-3CA8-F18DA76B4D0A}"/>
              </a:ext>
            </a:extLst>
          </p:cNvPr>
          <p:cNvSpPr/>
          <p:nvPr/>
        </p:nvSpPr>
        <p:spPr>
          <a:xfrm>
            <a:off x="6185086" y="5347026"/>
            <a:ext cx="643130" cy="673873"/>
          </a:xfrm>
          <a:prstGeom prst="cube">
            <a:avLst>
              <a:gd name="adj" fmla="val 8310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정육면체 35">
            <a:extLst>
              <a:ext uri="{FF2B5EF4-FFF2-40B4-BE49-F238E27FC236}">
                <a16:creationId xmlns:a16="http://schemas.microsoft.com/office/drawing/2014/main" id="{09D3DC3E-A3A8-96A8-BF3C-814C605DCAE9}"/>
              </a:ext>
            </a:extLst>
          </p:cNvPr>
          <p:cNvSpPr/>
          <p:nvPr/>
        </p:nvSpPr>
        <p:spPr>
          <a:xfrm>
            <a:off x="6344113" y="5347026"/>
            <a:ext cx="643130" cy="673873"/>
          </a:xfrm>
          <a:prstGeom prst="cube">
            <a:avLst>
              <a:gd name="adj" fmla="val 8310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정육면체 36">
            <a:extLst>
              <a:ext uri="{FF2B5EF4-FFF2-40B4-BE49-F238E27FC236}">
                <a16:creationId xmlns:a16="http://schemas.microsoft.com/office/drawing/2014/main" id="{63F04800-453A-E36F-7C48-F86444FD48D4}"/>
              </a:ext>
            </a:extLst>
          </p:cNvPr>
          <p:cNvSpPr/>
          <p:nvPr/>
        </p:nvSpPr>
        <p:spPr>
          <a:xfrm>
            <a:off x="6503139" y="5347026"/>
            <a:ext cx="643130" cy="673873"/>
          </a:xfrm>
          <a:prstGeom prst="cube">
            <a:avLst>
              <a:gd name="adj" fmla="val 8310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정육면체 37">
            <a:extLst>
              <a:ext uri="{FF2B5EF4-FFF2-40B4-BE49-F238E27FC236}">
                <a16:creationId xmlns:a16="http://schemas.microsoft.com/office/drawing/2014/main" id="{8DC6CF52-449F-9F73-35A9-384136CEC869}"/>
              </a:ext>
            </a:extLst>
          </p:cNvPr>
          <p:cNvSpPr/>
          <p:nvPr/>
        </p:nvSpPr>
        <p:spPr>
          <a:xfrm>
            <a:off x="6185086" y="5140292"/>
            <a:ext cx="643130" cy="673873"/>
          </a:xfrm>
          <a:prstGeom prst="cube">
            <a:avLst>
              <a:gd name="adj" fmla="val 8310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정육면체 38">
            <a:extLst>
              <a:ext uri="{FF2B5EF4-FFF2-40B4-BE49-F238E27FC236}">
                <a16:creationId xmlns:a16="http://schemas.microsoft.com/office/drawing/2014/main" id="{AE5ACA35-BF2F-0D41-CCC3-E559722E9CC1}"/>
              </a:ext>
            </a:extLst>
          </p:cNvPr>
          <p:cNvSpPr/>
          <p:nvPr/>
        </p:nvSpPr>
        <p:spPr>
          <a:xfrm>
            <a:off x="6344113" y="5140292"/>
            <a:ext cx="643130" cy="673873"/>
          </a:xfrm>
          <a:prstGeom prst="cube">
            <a:avLst>
              <a:gd name="adj" fmla="val 8310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정육면체 39">
            <a:extLst>
              <a:ext uri="{FF2B5EF4-FFF2-40B4-BE49-F238E27FC236}">
                <a16:creationId xmlns:a16="http://schemas.microsoft.com/office/drawing/2014/main" id="{33211596-1244-4963-A0B3-F6251CE38CDB}"/>
              </a:ext>
            </a:extLst>
          </p:cNvPr>
          <p:cNvSpPr/>
          <p:nvPr/>
        </p:nvSpPr>
        <p:spPr>
          <a:xfrm>
            <a:off x="6503139" y="5140292"/>
            <a:ext cx="643130" cy="673873"/>
          </a:xfrm>
          <a:prstGeom prst="cube">
            <a:avLst>
              <a:gd name="adj" fmla="val 8310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정육면체 40">
            <a:extLst>
              <a:ext uri="{FF2B5EF4-FFF2-40B4-BE49-F238E27FC236}">
                <a16:creationId xmlns:a16="http://schemas.microsoft.com/office/drawing/2014/main" id="{C61F17AF-265C-4F18-2836-1BF2DB8825F0}"/>
              </a:ext>
            </a:extLst>
          </p:cNvPr>
          <p:cNvSpPr/>
          <p:nvPr/>
        </p:nvSpPr>
        <p:spPr>
          <a:xfrm>
            <a:off x="8685309" y="4234062"/>
            <a:ext cx="2090267" cy="2225927"/>
          </a:xfrm>
          <a:prstGeom prst="cube">
            <a:avLst>
              <a:gd name="adj" fmla="val 9604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3F5950B1-A792-678A-59CE-460060E05732}"/>
              </a:ext>
            </a:extLst>
          </p:cNvPr>
          <p:cNvSpPr/>
          <p:nvPr/>
        </p:nvSpPr>
        <p:spPr>
          <a:xfrm rot="8254792">
            <a:off x="5808213" y="4111447"/>
            <a:ext cx="1987739" cy="2146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2C00AFAB-F435-B95F-B6FD-0CC3EDD9C09A}"/>
              </a:ext>
            </a:extLst>
          </p:cNvPr>
          <p:cNvSpPr/>
          <p:nvPr/>
        </p:nvSpPr>
        <p:spPr>
          <a:xfrm>
            <a:off x="7760301" y="5506384"/>
            <a:ext cx="962108" cy="2146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D7166C90-2EDB-7216-E8B4-6C2F70B70068}"/>
              </a:ext>
            </a:extLst>
          </p:cNvPr>
          <p:cNvSpPr/>
          <p:nvPr/>
        </p:nvSpPr>
        <p:spPr>
          <a:xfrm>
            <a:off x="6874677" y="2645921"/>
            <a:ext cx="962108" cy="2146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C8EF1D03-028E-CD7E-D43D-B8C84234C88D}"/>
              </a:ext>
            </a:extLst>
          </p:cNvPr>
          <p:cNvSpPr/>
          <p:nvPr/>
        </p:nvSpPr>
        <p:spPr>
          <a:xfrm>
            <a:off x="5110465" y="2780470"/>
            <a:ext cx="231410" cy="23141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BFB25FF0-C156-5C4A-9093-9DA6B13F92A4}"/>
              </a:ext>
            </a:extLst>
          </p:cNvPr>
          <p:cNvSpPr/>
          <p:nvPr/>
        </p:nvSpPr>
        <p:spPr>
          <a:xfrm>
            <a:off x="5183283" y="2859171"/>
            <a:ext cx="73074" cy="7307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5E959C6-0BD7-BE19-C87A-C3441B799560}"/>
              </a:ext>
            </a:extLst>
          </p:cNvPr>
          <p:cNvGrpSpPr/>
          <p:nvPr/>
        </p:nvGrpSpPr>
        <p:grpSpPr>
          <a:xfrm>
            <a:off x="5754418" y="5582755"/>
            <a:ext cx="231410" cy="231410"/>
            <a:chOff x="4413408" y="3695818"/>
            <a:chExt cx="231410" cy="231410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7BD69EC7-EB96-1756-2407-75E6D02061A8}"/>
                </a:ext>
              </a:extLst>
            </p:cNvPr>
            <p:cNvSpPr/>
            <p:nvPr/>
          </p:nvSpPr>
          <p:spPr>
            <a:xfrm>
              <a:off x="4413408" y="3695818"/>
              <a:ext cx="231410" cy="23141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2551B7A3-6115-CBF4-B60E-7951EAC774A6}"/>
                </a:ext>
              </a:extLst>
            </p:cNvPr>
            <p:cNvSpPr/>
            <p:nvPr/>
          </p:nvSpPr>
          <p:spPr>
            <a:xfrm>
              <a:off x="4486226" y="3774519"/>
              <a:ext cx="73074" cy="73074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CD826D4-3CFA-D578-9D36-1AA92FFE640F}"/>
              </a:ext>
            </a:extLst>
          </p:cNvPr>
          <p:cNvSpPr txBox="1"/>
          <p:nvPr/>
        </p:nvSpPr>
        <p:spPr>
          <a:xfrm>
            <a:off x="2190781" y="3997022"/>
            <a:ext cx="766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Q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4967B8-BE71-DCC8-47D2-3F54958EA51D}"/>
              </a:ext>
            </a:extLst>
          </p:cNvPr>
          <p:cNvSpPr txBox="1"/>
          <p:nvPr/>
        </p:nvSpPr>
        <p:spPr>
          <a:xfrm>
            <a:off x="3888135" y="2440995"/>
            <a:ext cx="766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K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A37D25-5098-EBED-D881-EC262914A642}"/>
              </a:ext>
            </a:extLst>
          </p:cNvPr>
          <p:cNvSpPr txBox="1"/>
          <p:nvPr/>
        </p:nvSpPr>
        <p:spPr>
          <a:xfrm>
            <a:off x="5103319" y="1385091"/>
            <a:ext cx="766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V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EF962B1-6FFB-4833-10E8-40D1F9EB9F8B}"/>
                  </a:ext>
                </a:extLst>
              </p:cNvPr>
              <p:cNvSpPr txBox="1"/>
              <p:nvPr/>
            </p:nvSpPr>
            <p:spPr>
              <a:xfrm>
                <a:off x="2408570" y="1691790"/>
                <a:ext cx="1044132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Linear projection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ko-KR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ko-KR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ko-KR" altLang="en-US" sz="10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EF962B1-6FFB-4833-10E8-40D1F9EB9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570" y="1691790"/>
                <a:ext cx="1044132" cy="553998"/>
              </a:xfrm>
              <a:prstGeom prst="rect">
                <a:avLst/>
              </a:prstGeom>
              <a:blipFill>
                <a:blip r:embed="rId4"/>
                <a:stretch>
                  <a:fillRect t="-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848A6244-5B89-F371-C3E4-A6315F577469}"/>
              </a:ext>
            </a:extLst>
          </p:cNvPr>
          <p:cNvSpPr/>
          <p:nvPr/>
        </p:nvSpPr>
        <p:spPr>
          <a:xfrm>
            <a:off x="1953261" y="2856324"/>
            <a:ext cx="461175" cy="108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92D4CD-B032-C016-3B47-4D365F11B255}"/>
              </a:ext>
            </a:extLst>
          </p:cNvPr>
          <p:cNvSpPr txBox="1"/>
          <p:nvPr/>
        </p:nvSpPr>
        <p:spPr>
          <a:xfrm>
            <a:off x="727064" y="1574678"/>
            <a:ext cx="7668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Patches</a:t>
            </a:r>
            <a:endParaRPr lang="ko-KR" altLang="en-US" sz="1000" dirty="0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7C36F37E-61CB-DCDF-A9F4-360D41470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863" y="1673575"/>
            <a:ext cx="861705" cy="590428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CFD81A74-A418-D980-C114-4C890A16F5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5226"/>
          <a:stretch/>
        </p:blipFill>
        <p:spPr>
          <a:xfrm>
            <a:off x="295885" y="1207503"/>
            <a:ext cx="4908851" cy="193343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FA0FF3F6-8F22-2A59-A7AC-F214242DAA42}"/>
              </a:ext>
            </a:extLst>
          </p:cNvPr>
          <p:cNvSpPr txBox="1"/>
          <p:nvPr/>
        </p:nvSpPr>
        <p:spPr>
          <a:xfrm>
            <a:off x="1072859" y="2180550"/>
            <a:ext cx="112991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/>
              <a:t>D = 16x16x3 = 768</a:t>
            </a:r>
            <a:endParaRPr lang="ko-KR" altLang="en-US" sz="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66D1AE-B886-1F87-D248-C88B3BBBF05E}"/>
              </a:ext>
            </a:extLst>
          </p:cNvPr>
          <p:cNvSpPr txBox="1"/>
          <p:nvPr/>
        </p:nvSpPr>
        <p:spPr>
          <a:xfrm>
            <a:off x="9864188" y="1095658"/>
            <a:ext cx="12203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rgbClr val="FF0000"/>
                </a:solidFill>
              </a:rPr>
              <a:t>패치크기 </a:t>
            </a:r>
            <a:r>
              <a:rPr lang="en-US" altLang="ko-KR" sz="800" dirty="0">
                <a:solidFill>
                  <a:srgbClr val="FF0000"/>
                </a:solidFill>
              </a:rPr>
              <a:t>16x16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62" name="화살표: 오른쪽 61">
            <a:extLst>
              <a:ext uri="{FF2B5EF4-FFF2-40B4-BE49-F238E27FC236}">
                <a16:creationId xmlns:a16="http://schemas.microsoft.com/office/drawing/2014/main" id="{C43B2EB3-EF8A-0557-82AD-9BCFF12CE6AE}"/>
              </a:ext>
            </a:extLst>
          </p:cNvPr>
          <p:cNvSpPr/>
          <p:nvPr/>
        </p:nvSpPr>
        <p:spPr>
          <a:xfrm>
            <a:off x="3166307" y="2856324"/>
            <a:ext cx="461175" cy="108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4" name="그림 1023">
            <a:extLst>
              <a:ext uri="{FF2B5EF4-FFF2-40B4-BE49-F238E27FC236}">
                <a16:creationId xmlns:a16="http://schemas.microsoft.com/office/drawing/2014/main" id="{6A4412CE-BDA5-5428-F009-80EDD97A47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0079" y="4735593"/>
            <a:ext cx="1511458" cy="1978017"/>
          </a:xfrm>
          <a:prstGeom prst="rect">
            <a:avLst/>
          </a:prstGeom>
        </p:spPr>
      </p:pic>
      <p:sp>
        <p:nvSpPr>
          <p:cNvPr id="1025" name="정육면체 1024">
            <a:extLst>
              <a:ext uri="{FF2B5EF4-FFF2-40B4-BE49-F238E27FC236}">
                <a16:creationId xmlns:a16="http://schemas.microsoft.com/office/drawing/2014/main" id="{001FBF23-2510-A1B5-F4D8-39D424BB16A2}"/>
              </a:ext>
            </a:extLst>
          </p:cNvPr>
          <p:cNvSpPr/>
          <p:nvPr/>
        </p:nvSpPr>
        <p:spPr>
          <a:xfrm>
            <a:off x="1705382" y="4012917"/>
            <a:ext cx="1683218" cy="1681324"/>
          </a:xfrm>
          <a:prstGeom prst="cube">
            <a:avLst>
              <a:gd name="adj" fmla="val 96046"/>
            </a:avLst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7" name="정육면체 1026">
            <a:extLst>
              <a:ext uri="{FF2B5EF4-FFF2-40B4-BE49-F238E27FC236}">
                <a16:creationId xmlns:a16="http://schemas.microsoft.com/office/drawing/2014/main" id="{FF98A67A-06B3-3F6C-13FC-C4A0A4470428}"/>
              </a:ext>
            </a:extLst>
          </p:cNvPr>
          <p:cNvSpPr/>
          <p:nvPr/>
        </p:nvSpPr>
        <p:spPr>
          <a:xfrm>
            <a:off x="3388364" y="2345082"/>
            <a:ext cx="1683218" cy="1681324"/>
          </a:xfrm>
          <a:prstGeom prst="cube">
            <a:avLst>
              <a:gd name="adj" fmla="val 96046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75C1A111-B74D-3607-EF0F-3AEAC84BF167}"/>
              </a:ext>
            </a:extLst>
          </p:cNvPr>
          <p:cNvSpPr txBox="1"/>
          <p:nvPr/>
        </p:nvSpPr>
        <p:spPr>
          <a:xfrm>
            <a:off x="7117725" y="3948262"/>
            <a:ext cx="14148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/>
              <a:t>Softmax</a:t>
            </a:r>
            <a:endParaRPr lang="ko-KR" altLang="en-US" sz="1000" dirty="0"/>
          </a:p>
        </p:txBody>
      </p:sp>
      <p:sp>
        <p:nvSpPr>
          <p:cNvPr id="1030" name="정육면체 1029">
            <a:extLst>
              <a:ext uri="{FF2B5EF4-FFF2-40B4-BE49-F238E27FC236}">
                <a16:creationId xmlns:a16="http://schemas.microsoft.com/office/drawing/2014/main" id="{2857EFCF-75EF-867A-AC14-7E01B16B9754}"/>
              </a:ext>
            </a:extLst>
          </p:cNvPr>
          <p:cNvSpPr/>
          <p:nvPr/>
        </p:nvSpPr>
        <p:spPr>
          <a:xfrm>
            <a:off x="789916" y="3017208"/>
            <a:ext cx="416833" cy="464801"/>
          </a:xfrm>
          <a:prstGeom prst="cube">
            <a:avLst>
              <a:gd name="adj" fmla="val 4686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1" name="정육면체 1030">
            <a:extLst>
              <a:ext uri="{FF2B5EF4-FFF2-40B4-BE49-F238E27FC236}">
                <a16:creationId xmlns:a16="http://schemas.microsoft.com/office/drawing/2014/main" id="{3E265FB2-6A51-D51C-7B66-E949AEED5DEA}"/>
              </a:ext>
            </a:extLst>
          </p:cNvPr>
          <p:cNvSpPr/>
          <p:nvPr/>
        </p:nvSpPr>
        <p:spPr>
          <a:xfrm>
            <a:off x="1091866" y="3017208"/>
            <a:ext cx="416833" cy="464801"/>
          </a:xfrm>
          <a:prstGeom prst="cube">
            <a:avLst>
              <a:gd name="adj" fmla="val 4686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3" name="정육면체 1032">
            <a:extLst>
              <a:ext uri="{FF2B5EF4-FFF2-40B4-BE49-F238E27FC236}">
                <a16:creationId xmlns:a16="http://schemas.microsoft.com/office/drawing/2014/main" id="{790BE7FC-FA59-2B5D-E6A0-62FC4EF4A8D5}"/>
              </a:ext>
            </a:extLst>
          </p:cNvPr>
          <p:cNvSpPr/>
          <p:nvPr/>
        </p:nvSpPr>
        <p:spPr>
          <a:xfrm>
            <a:off x="503617" y="2711427"/>
            <a:ext cx="416833" cy="464801"/>
          </a:xfrm>
          <a:prstGeom prst="cube">
            <a:avLst>
              <a:gd name="adj" fmla="val 4686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4" name="정육면체 1033">
            <a:extLst>
              <a:ext uri="{FF2B5EF4-FFF2-40B4-BE49-F238E27FC236}">
                <a16:creationId xmlns:a16="http://schemas.microsoft.com/office/drawing/2014/main" id="{0FC52BB2-1977-F23A-0E90-859C40627727}"/>
              </a:ext>
            </a:extLst>
          </p:cNvPr>
          <p:cNvSpPr/>
          <p:nvPr/>
        </p:nvSpPr>
        <p:spPr>
          <a:xfrm>
            <a:off x="789916" y="2711427"/>
            <a:ext cx="416833" cy="464801"/>
          </a:xfrm>
          <a:prstGeom prst="cube">
            <a:avLst>
              <a:gd name="adj" fmla="val 4686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5" name="정육면체 1034">
            <a:extLst>
              <a:ext uri="{FF2B5EF4-FFF2-40B4-BE49-F238E27FC236}">
                <a16:creationId xmlns:a16="http://schemas.microsoft.com/office/drawing/2014/main" id="{EB99A942-DABA-6109-E5CD-4A4B02E08205}"/>
              </a:ext>
            </a:extLst>
          </p:cNvPr>
          <p:cNvSpPr/>
          <p:nvPr/>
        </p:nvSpPr>
        <p:spPr>
          <a:xfrm>
            <a:off x="1091866" y="2711427"/>
            <a:ext cx="416833" cy="464801"/>
          </a:xfrm>
          <a:prstGeom prst="cube">
            <a:avLst>
              <a:gd name="adj" fmla="val 4686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6" name="정육면체 1035">
            <a:extLst>
              <a:ext uri="{FF2B5EF4-FFF2-40B4-BE49-F238E27FC236}">
                <a16:creationId xmlns:a16="http://schemas.microsoft.com/office/drawing/2014/main" id="{4F8B5363-D677-483D-D3F7-0D3758861DCA}"/>
              </a:ext>
            </a:extLst>
          </p:cNvPr>
          <p:cNvSpPr/>
          <p:nvPr/>
        </p:nvSpPr>
        <p:spPr>
          <a:xfrm>
            <a:off x="503617" y="2405821"/>
            <a:ext cx="416833" cy="464801"/>
          </a:xfrm>
          <a:prstGeom prst="cube">
            <a:avLst>
              <a:gd name="adj" fmla="val 4686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7" name="정육면체 1036">
            <a:extLst>
              <a:ext uri="{FF2B5EF4-FFF2-40B4-BE49-F238E27FC236}">
                <a16:creationId xmlns:a16="http://schemas.microsoft.com/office/drawing/2014/main" id="{A7685C11-F28A-7AA7-1366-F420F774383F}"/>
              </a:ext>
            </a:extLst>
          </p:cNvPr>
          <p:cNvSpPr/>
          <p:nvPr/>
        </p:nvSpPr>
        <p:spPr>
          <a:xfrm>
            <a:off x="789916" y="2405821"/>
            <a:ext cx="416833" cy="464801"/>
          </a:xfrm>
          <a:prstGeom prst="cube">
            <a:avLst>
              <a:gd name="adj" fmla="val 4686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8" name="정육면체 1037">
            <a:extLst>
              <a:ext uri="{FF2B5EF4-FFF2-40B4-BE49-F238E27FC236}">
                <a16:creationId xmlns:a16="http://schemas.microsoft.com/office/drawing/2014/main" id="{411F1536-EADC-EB6D-2F05-50E19FDB31B1}"/>
              </a:ext>
            </a:extLst>
          </p:cNvPr>
          <p:cNvSpPr/>
          <p:nvPr/>
        </p:nvSpPr>
        <p:spPr>
          <a:xfrm>
            <a:off x="1091866" y="2405821"/>
            <a:ext cx="416833" cy="464801"/>
          </a:xfrm>
          <a:prstGeom prst="cube">
            <a:avLst>
              <a:gd name="adj" fmla="val 4686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41" name="그림 1040">
            <a:extLst>
              <a:ext uri="{FF2B5EF4-FFF2-40B4-BE49-F238E27FC236}">
                <a16:creationId xmlns:a16="http://schemas.microsoft.com/office/drawing/2014/main" id="{ECCFA249-DA81-13D2-FE38-D1597BFE6E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2853" y="3154587"/>
            <a:ext cx="935598" cy="27999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42" name="TextBox 1041">
                <a:extLst>
                  <a:ext uri="{FF2B5EF4-FFF2-40B4-BE49-F238E27FC236}">
                    <a16:creationId xmlns:a16="http://schemas.microsoft.com/office/drawing/2014/main" id="{E64E28D4-5A05-4AAB-3353-780F1C37579B}"/>
                  </a:ext>
                </a:extLst>
              </p:cNvPr>
              <p:cNvSpPr txBox="1"/>
              <p:nvPr/>
            </p:nvSpPr>
            <p:spPr>
              <a:xfrm>
                <a:off x="4640531" y="3773539"/>
                <a:ext cx="129640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𝐻𝑒𝑎𝑑</m:t>
                          </m:r>
                        </m:sub>
                      </m:sSub>
                      <m:r>
                        <a:rPr lang="en-US" altLang="ko-KR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ko-KR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64</m:t>
                          </m:r>
                        </m:sup>
                      </m:sSup>
                    </m:oMath>
                  </m:oMathPara>
                </a14:m>
                <a:endParaRPr lang="ko-KR" altLang="en-US" sz="1000" dirty="0"/>
              </a:p>
            </p:txBody>
          </p:sp>
        </mc:Choice>
        <mc:Fallback>
          <p:sp>
            <p:nvSpPr>
              <p:cNvPr id="1042" name="TextBox 1041">
                <a:extLst>
                  <a:ext uri="{FF2B5EF4-FFF2-40B4-BE49-F238E27FC236}">
                    <a16:creationId xmlns:a16="http://schemas.microsoft.com/office/drawing/2014/main" id="{E64E28D4-5A05-4AAB-3353-780F1C375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531" y="3773539"/>
                <a:ext cx="1296403" cy="246221"/>
              </a:xfrm>
              <a:prstGeom prst="rect">
                <a:avLst/>
              </a:prstGeom>
              <a:blipFill>
                <a:blip r:embed="rId8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E9831C9A-4B5C-92CF-2108-8DD70588EBE6}"/>
                  </a:ext>
                </a:extLst>
              </p:cNvPr>
              <p:cNvSpPr txBox="1"/>
              <p:nvPr/>
            </p:nvSpPr>
            <p:spPr>
              <a:xfrm>
                <a:off x="4640531" y="4011933"/>
                <a:ext cx="129640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𝐻𝑒𝑎𝑑</m:t>
                          </m:r>
                        </m:sub>
                      </m:sSub>
                      <m:r>
                        <a:rPr lang="en-US" altLang="ko-KR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ko-KR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64</m:t>
                          </m:r>
                        </m:sup>
                      </m:sSup>
                    </m:oMath>
                  </m:oMathPara>
                </a14:m>
                <a:endParaRPr lang="ko-KR" altLang="en-US" sz="1000" dirty="0"/>
              </a:p>
            </p:txBody>
          </p:sp>
        </mc:Choice>
        <mc:Fallback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E9831C9A-4B5C-92CF-2108-8DD70588E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531" y="4011933"/>
                <a:ext cx="1296403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C8717588-47DD-9E3C-A0FE-3CEE514001BC}"/>
                  </a:ext>
                </a:extLst>
              </p:cNvPr>
              <p:cNvSpPr txBox="1"/>
              <p:nvPr/>
            </p:nvSpPr>
            <p:spPr>
              <a:xfrm>
                <a:off x="4640531" y="4208386"/>
                <a:ext cx="129640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  <m:t>𝐻𝑒𝑎𝑑</m:t>
                          </m:r>
                        </m:sub>
                      </m:sSub>
                      <m:r>
                        <a:rPr lang="en-US" altLang="ko-KR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a:rPr lang="en-US" altLang="ko-KR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64</m:t>
                          </m:r>
                        </m:sup>
                      </m:sSup>
                    </m:oMath>
                  </m:oMathPara>
                </a14:m>
                <a:endParaRPr lang="ko-KR" altLang="en-US" sz="1000" dirty="0"/>
              </a:p>
            </p:txBody>
          </p:sp>
        </mc:Choice>
        <mc:Fallback>
          <p:sp>
            <p:nvSpPr>
              <p:cNvPr id="1044" name="TextBox 1043">
                <a:extLst>
                  <a:ext uri="{FF2B5EF4-FFF2-40B4-BE49-F238E27FC236}">
                    <a16:creationId xmlns:a16="http://schemas.microsoft.com/office/drawing/2014/main" id="{C8717588-47DD-9E3C-A0FE-3CEE51400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531" y="4208386"/>
                <a:ext cx="1296403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46" name="그림 1045">
            <a:extLst>
              <a:ext uri="{FF2B5EF4-FFF2-40B4-BE49-F238E27FC236}">
                <a16:creationId xmlns:a16="http://schemas.microsoft.com/office/drawing/2014/main" id="{2AABDE85-8BAA-CBEA-4241-C963D5846E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6673" y="3116627"/>
            <a:ext cx="379192" cy="257656"/>
          </a:xfrm>
          <a:prstGeom prst="rect">
            <a:avLst/>
          </a:prstGeom>
        </p:spPr>
      </p:pic>
      <p:sp>
        <p:nvSpPr>
          <p:cNvPr id="1050" name="정육면체 1049">
            <a:extLst>
              <a:ext uri="{FF2B5EF4-FFF2-40B4-BE49-F238E27FC236}">
                <a16:creationId xmlns:a16="http://schemas.microsoft.com/office/drawing/2014/main" id="{8D501A4D-D410-3BC9-74E0-73FAE28689DD}"/>
              </a:ext>
            </a:extLst>
          </p:cNvPr>
          <p:cNvSpPr/>
          <p:nvPr/>
        </p:nvSpPr>
        <p:spPr>
          <a:xfrm>
            <a:off x="5588890" y="3017208"/>
            <a:ext cx="416833" cy="464801"/>
          </a:xfrm>
          <a:prstGeom prst="cube">
            <a:avLst>
              <a:gd name="adj" fmla="val 4686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3" name="정육면체 1052">
            <a:extLst>
              <a:ext uri="{FF2B5EF4-FFF2-40B4-BE49-F238E27FC236}">
                <a16:creationId xmlns:a16="http://schemas.microsoft.com/office/drawing/2014/main" id="{A2F1B0D2-D1F0-6A17-3A10-976A7D2C51CD}"/>
              </a:ext>
            </a:extLst>
          </p:cNvPr>
          <p:cNvSpPr/>
          <p:nvPr/>
        </p:nvSpPr>
        <p:spPr>
          <a:xfrm>
            <a:off x="5588890" y="2711427"/>
            <a:ext cx="416833" cy="464801"/>
          </a:xfrm>
          <a:prstGeom prst="cube">
            <a:avLst>
              <a:gd name="adj" fmla="val 4686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6" name="정육면체 1055">
            <a:extLst>
              <a:ext uri="{FF2B5EF4-FFF2-40B4-BE49-F238E27FC236}">
                <a16:creationId xmlns:a16="http://schemas.microsoft.com/office/drawing/2014/main" id="{83E87DF0-7043-B7B7-225E-5157ADC7EF63}"/>
              </a:ext>
            </a:extLst>
          </p:cNvPr>
          <p:cNvSpPr/>
          <p:nvPr/>
        </p:nvSpPr>
        <p:spPr>
          <a:xfrm>
            <a:off x="5588890" y="2405821"/>
            <a:ext cx="416833" cy="464801"/>
          </a:xfrm>
          <a:prstGeom prst="cube">
            <a:avLst>
              <a:gd name="adj" fmla="val 4686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2" name="자유형: 도형 1061">
            <a:extLst>
              <a:ext uri="{FF2B5EF4-FFF2-40B4-BE49-F238E27FC236}">
                <a16:creationId xmlns:a16="http://schemas.microsoft.com/office/drawing/2014/main" id="{C88C0097-46C0-4738-D427-5FFEEAB6F2BB}"/>
              </a:ext>
            </a:extLst>
          </p:cNvPr>
          <p:cNvSpPr/>
          <p:nvPr/>
        </p:nvSpPr>
        <p:spPr>
          <a:xfrm>
            <a:off x="4190364" y="1126226"/>
            <a:ext cx="5343276" cy="5494351"/>
          </a:xfrm>
          <a:custGeom>
            <a:avLst/>
            <a:gdLst>
              <a:gd name="connsiteX0" fmla="*/ 0 w 5343276"/>
              <a:gd name="connsiteY0" fmla="*/ 2631881 h 5494351"/>
              <a:gd name="connsiteX1" fmla="*/ 2727297 w 5343276"/>
              <a:gd name="connsiteY1" fmla="*/ 0 h 5494351"/>
              <a:gd name="connsiteX2" fmla="*/ 5343276 w 5343276"/>
              <a:gd name="connsiteY2" fmla="*/ 79513 h 5494351"/>
              <a:gd name="connsiteX3" fmla="*/ 5295568 w 5343276"/>
              <a:gd name="connsiteY3" fmla="*/ 2806810 h 5494351"/>
              <a:gd name="connsiteX4" fmla="*/ 2703443 w 5343276"/>
              <a:gd name="connsiteY4" fmla="*/ 5494351 h 5494351"/>
              <a:gd name="connsiteX5" fmla="*/ 71561 w 5343276"/>
              <a:gd name="connsiteY5" fmla="*/ 5470497 h 5494351"/>
              <a:gd name="connsiteX6" fmla="*/ 0 w 5343276"/>
              <a:gd name="connsiteY6" fmla="*/ 2631881 h 549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43276" h="5494351">
                <a:moveTo>
                  <a:pt x="0" y="2631881"/>
                </a:moveTo>
                <a:lnTo>
                  <a:pt x="2727297" y="0"/>
                </a:lnTo>
                <a:lnTo>
                  <a:pt x="5343276" y="79513"/>
                </a:lnTo>
                <a:lnTo>
                  <a:pt x="5295568" y="2806810"/>
                </a:lnTo>
                <a:lnTo>
                  <a:pt x="2703443" y="5494351"/>
                </a:lnTo>
                <a:lnTo>
                  <a:pt x="71561" y="5470497"/>
                </a:lnTo>
                <a:lnTo>
                  <a:pt x="0" y="2631881"/>
                </a:lnTo>
                <a:close/>
              </a:path>
            </a:pathLst>
          </a:custGeom>
          <a:solidFill>
            <a:srgbClr val="156082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234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E3B1A-104A-4AD8-2C84-EA8852A8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Note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3EB019-FAF1-A5E8-06F6-BA8D3FD33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38" y="858669"/>
            <a:ext cx="10487025" cy="264795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33201C6-F0EB-B495-0432-3801B7488311}"/>
              </a:ext>
            </a:extLst>
          </p:cNvPr>
          <p:cNvSpPr/>
          <p:nvPr/>
        </p:nvSpPr>
        <p:spPr>
          <a:xfrm>
            <a:off x="864589" y="3699580"/>
            <a:ext cx="1028772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>
                <a:hlinkClick r:id="rId3"/>
              </a:rPr>
              <a:t>https://moon-walker.medium.com/transformer%EB%8A%94-inductive-bias%EC%9D%B4-%EB%B6%80%EC%A1%B1%ED%95%98%EB%8B%A4%EB%9D%BC%EB%8A%94-%EC%9D%98%EB%AF%B8%EB%8A%94-%EB%AC%B4%EC%97%87%EC%9D%BC%EA%B9%8C-4f6005d32558</a:t>
            </a:r>
            <a:endParaRPr lang="en-US" altLang="ko-KR" sz="1100" dirty="0"/>
          </a:p>
          <a:p>
            <a:endParaRPr lang="ko-KR" altLang="en-US" sz="11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6F70E3-2528-7206-0E0F-FC48FFD3B724}"/>
              </a:ext>
            </a:extLst>
          </p:cNvPr>
          <p:cNvSpPr/>
          <p:nvPr/>
        </p:nvSpPr>
        <p:spPr>
          <a:xfrm>
            <a:off x="2757158" y="896013"/>
            <a:ext cx="8303106" cy="247674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E969D9-571A-F2C7-BD6F-4BC2BEE185C9}"/>
              </a:ext>
            </a:extLst>
          </p:cNvPr>
          <p:cNvSpPr/>
          <p:nvPr/>
        </p:nvSpPr>
        <p:spPr>
          <a:xfrm>
            <a:off x="936309" y="1166358"/>
            <a:ext cx="733465" cy="247674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650223-1872-D45D-7292-1F698D904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60" y="4457850"/>
            <a:ext cx="10496550" cy="219075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F4BEBE8-2364-2213-96C9-3CBCBBF25893}"/>
              </a:ext>
            </a:extLst>
          </p:cNvPr>
          <p:cNvSpPr/>
          <p:nvPr/>
        </p:nvSpPr>
        <p:spPr>
          <a:xfrm>
            <a:off x="7552605" y="4748156"/>
            <a:ext cx="3546282" cy="247674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25DC838-077B-2844-D798-68999CCC3D33}"/>
              </a:ext>
            </a:extLst>
          </p:cNvPr>
          <p:cNvSpPr/>
          <p:nvPr/>
        </p:nvSpPr>
        <p:spPr>
          <a:xfrm>
            <a:off x="849656" y="5042354"/>
            <a:ext cx="3236181" cy="247674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87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742BF-4A49-F69B-9BDB-128D4589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Exeperiment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19AB92-4000-6B52-E9D8-D0EF4F082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83" y="1205897"/>
            <a:ext cx="6855884" cy="152448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631FF14-DE8C-9C28-C1BE-868406A2C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96" y="2925762"/>
            <a:ext cx="1035367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789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438C9-6034-0AFD-CE90-CB14D4CA6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777054-E755-575F-790E-44EF313DF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9" y="1342734"/>
            <a:ext cx="11650701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22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5994AB-AD58-5D8E-01AF-9239878A0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EDEF99-F584-405B-5E08-50EB8D483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799" y="1050454"/>
            <a:ext cx="3264428" cy="54955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35723C7-43C3-D106-2CF3-69CD17904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1" y="1171575"/>
            <a:ext cx="6296025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795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1A9F5D-B054-6511-7583-10DA87FD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F9A4A2-73E5-3513-AB04-1FA25B4F8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12" y="905501"/>
            <a:ext cx="9478698" cy="22958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AA959D8-2440-B747-B0D1-F43A8833F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806" y="3499740"/>
            <a:ext cx="4959455" cy="31488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E7014EB-0609-A204-36F4-915DE9099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08" y="5409498"/>
            <a:ext cx="6077798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11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B9CA52-32D4-80EF-B2C2-A0572159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8A441C-72E9-8A6A-A5CE-6D61E9101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738" y="1049885"/>
            <a:ext cx="5622396" cy="536217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23DB3B7-10F4-8145-8195-8CB1AF8B70DC}"/>
              </a:ext>
            </a:extLst>
          </p:cNvPr>
          <p:cNvSpPr/>
          <p:nvPr/>
        </p:nvSpPr>
        <p:spPr>
          <a:xfrm>
            <a:off x="7303075" y="5663819"/>
            <a:ext cx="30769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https://www.dinolabs.ai/238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746C85-1202-6879-0CDD-4A64ACB70535}"/>
              </a:ext>
            </a:extLst>
          </p:cNvPr>
          <p:cNvSpPr/>
          <p:nvPr/>
        </p:nvSpPr>
        <p:spPr>
          <a:xfrm>
            <a:off x="7303075" y="5384419"/>
            <a:ext cx="30769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https://www.dinolabs.ai/237</a:t>
            </a:r>
          </a:p>
        </p:txBody>
      </p:sp>
    </p:spTree>
    <p:extLst>
      <p:ext uri="{BB962C8B-B14F-4D97-AF65-F5344CB8AC3E}">
        <p14:creationId xmlns:p14="http://schemas.microsoft.com/office/powerpoint/2010/main" val="2099767525"/>
      </p:ext>
    </p:extLst>
  </p:cSld>
  <p:clrMapOvr>
    <a:masterClrMapping/>
  </p:clrMapOvr>
</p:sld>
</file>

<file path=ppt/theme/theme1.xml><?xml version="1.0" encoding="utf-8"?>
<a:theme xmlns:a="http://schemas.openxmlformats.org/drawingml/2006/main" name="A Method for Registration of 3-D Shap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Neuralangelo</Template>
  <TotalTime>679</TotalTime>
  <Words>560</Words>
  <Application>Microsoft Office PowerPoint</Application>
  <PresentationFormat>와이드스크린</PresentationFormat>
  <Paragraphs>96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Arial</vt:lpstr>
      <vt:lpstr>Cambria Math</vt:lpstr>
      <vt:lpstr>Wingdings</vt:lpstr>
      <vt:lpstr>A Method for Registration of 3-D Shapes</vt:lpstr>
      <vt:lpstr>The Papers</vt:lpstr>
      <vt:lpstr>Introduction</vt:lpstr>
      <vt:lpstr>Summary</vt:lpstr>
      <vt:lpstr>CNN</vt:lpstr>
      <vt:lpstr>AlexaNet (2012)</vt:lpstr>
      <vt:lpstr>ResNET</vt:lpstr>
      <vt:lpstr>Encoder-Decoder </vt:lpstr>
      <vt:lpstr>Transformer</vt:lpstr>
      <vt:lpstr>Vision Transformer</vt:lpstr>
      <vt:lpstr>ViT </vt:lpstr>
      <vt:lpstr>Method</vt:lpstr>
      <vt:lpstr>Example</vt:lpstr>
      <vt:lpstr>Note</vt:lpstr>
      <vt:lpstr>Exeperiment</vt:lpstr>
      <vt:lpstr>Experiment</vt:lpstr>
      <vt:lpstr>PowerPoint 프레젠테이션</vt:lpstr>
      <vt:lpstr>Conclusion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Paper</dc:title>
  <dc:creator>송영국</dc:creator>
  <cp:lastModifiedBy>영국 송</cp:lastModifiedBy>
  <cp:revision>18</cp:revision>
  <dcterms:created xsi:type="dcterms:W3CDTF">2025-03-19T13:26:03Z</dcterms:created>
  <dcterms:modified xsi:type="dcterms:W3CDTF">2025-03-20T09:12:15Z</dcterms:modified>
</cp:coreProperties>
</file>